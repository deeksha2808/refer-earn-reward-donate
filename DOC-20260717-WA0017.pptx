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76"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Alice" panose="020B0604020202020204" charset="0"/>
      <p:regular r:id="rId13"/>
    </p:embeddedFont>
    <p:embeddedFont>
      <p:font typeface="Calibri" panose="020F0502020204030204" pitchFamily="34" charset="0"/>
      <p:regular r:id="rId14"/>
      <p:bold r:id="rId15"/>
      <p:italic r:id="rId16"/>
      <p:boldItalic r:id="rId17"/>
    </p:embeddedFont>
    <p:embeddedFont>
      <p:font typeface="Lora" panose="020B0604020202020204" charset="0"/>
      <p:regular r:id="rId18"/>
    </p:embeddedFont>
    <p:embeddedFont>
      <p:font typeface="Lora Bold" panose="020B0604020202020204" charset="0"/>
      <p:regular r:id="rId19"/>
    </p:embeddedFont>
    <p:embeddedFont>
      <p:font typeface="Trebuchet MS" panose="020B0603020202020204" pitchFamily="34" charset="0"/>
      <p:regular r:id="rId20"/>
      <p:bold r:id="rId21"/>
      <p:italic r:id="rId22"/>
      <p:boldItalic r:id="rId23"/>
    </p:embeddedFont>
    <p:embeddedFont>
      <p:font typeface="Wingdings 3" panose="05040102010807070707" pitchFamily="18" charset="2"/>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D0B"/>
    <a:srgbClr val="0911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6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07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2930868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980849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95699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9408514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131096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41855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307504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40336526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6453062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198373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211418649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126588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451929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576685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225755957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13860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4193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66468494"/>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901949"/>
            <a:ext cx="8151763" cy="442987"/>
          </a:xfrm>
          <a:prstGeom prst="rect">
            <a:avLst/>
          </a:prstGeom>
          <a:noFill/>
          <a:ln/>
        </p:spPr>
        <p:txBody>
          <a:bodyPr wrap="none" lIns="0" tIns="0" rIns="0" bIns="0" rtlCol="0" anchor="t"/>
          <a:lstStyle/>
          <a:p>
            <a:pPr marL="0" indent="0" algn="l">
              <a:lnSpc>
                <a:spcPct val="104000"/>
              </a:lnSpc>
              <a:buNone/>
            </a:pPr>
            <a:r>
              <a:rPr lang="en-US" sz="3600" dirty="0">
                <a:solidFill>
                  <a:srgbClr val="233E32"/>
                </a:solidFill>
                <a:latin typeface="Alice" pitchFamily="34" charset="0"/>
                <a:ea typeface="Alice" pitchFamily="34" charset="-122"/>
                <a:cs typeface="Alice" pitchFamily="34" charset="-120"/>
              </a:rPr>
              <a:t>Refer • Earn • Reward &amp; Donate</a:t>
            </a:r>
            <a:endParaRPr lang="en-US" sz="3600" dirty="0"/>
          </a:p>
        </p:txBody>
      </p:sp>
      <p:sp>
        <p:nvSpPr>
          <p:cNvPr id="3" name="Text 1"/>
          <p:cNvSpPr/>
          <p:nvPr/>
        </p:nvSpPr>
        <p:spPr>
          <a:xfrm>
            <a:off x="496119" y="2489310"/>
            <a:ext cx="8250316" cy="827654"/>
          </a:xfrm>
          <a:prstGeom prst="rect">
            <a:avLst/>
          </a:prstGeom>
          <a:noFill/>
          <a:ln/>
        </p:spPr>
        <p:txBody>
          <a:bodyPr wrap="square" lIns="0" tIns="0" rIns="0" bIns="0" rtlCol="0" anchor="t"/>
          <a:lstStyle/>
          <a:p>
            <a:pPr marL="0" indent="0" algn="l">
              <a:lnSpc>
                <a:spcPct val="133000"/>
              </a:lnSpc>
              <a:spcAft>
                <a:spcPts val="1250"/>
              </a:spcAft>
              <a:buNone/>
            </a:pPr>
            <a:r>
              <a:rPr lang="en-US" b="1" dirty="0">
                <a:solidFill>
                  <a:srgbClr val="2C2821"/>
                </a:solidFill>
                <a:latin typeface="Lora Bold" pitchFamily="34" charset="0"/>
                <a:ea typeface="Lora Bold" pitchFamily="34" charset="-122"/>
                <a:cs typeface="Lora Bold" pitchFamily="34" charset="-120"/>
              </a:rPr>
              <a:t>Abhimo Technologies</a:t>
            </a:r>
            <a:endParaRPr lang="en-US" sz="1200" dirty="0"/>
          </a:p>
          <a:p>
            <a:pPr marL="0" indent="0" algn="l">
              <a:lnSpc>
                <a:spcPct val="133000"/>
              </a:lnSpc>
              <a:buNone/>
            </a:pPr>
            <a:r>
              <a:rPr lang="en-US" sz="1200" dirty="0">
                <a:solidFill>
                  <a:srgbClr val="2C2821"/>
                </a:solidFill>
                <a:latin typeface="Lora" pitchFamily="34" charset="0"/>
                <a:ea typeface="Lora" pitchFamily="34" charset="-122"/>
                <a:cs typeface="Lora" pitchFamily="34" charset="-120"/>
              </a:rPr>
              <a:t>Abhimo Technologies builds innovative software products and enterprise-grade digital solutions.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834777"/>
            <a:ext cx="915739" cy="215354"/>
          </a:xfrm>
          <a:prstGeom prst="roundRect">
            <a:avLst>
              <a:gd name="adj" fmla="val 7900"/>
            </a:avLst>
          </a:prstGeom>
          <a:noFill/>
          <a:ln w="4763">
            <a:solidFill>
              <a:srgbClr val="1B5F39"/>
            </a:solidFill>
            <a:prstDash val="solid"/>
          </a:ln>
        </p:spPr>
      </p:sp>
      <p:sp>
        <p:nvSpPr>
          <p:cNvPr id="3" name="Text 1"/>
          <p:cNvSpPr/>
          <p:nvPr/>
        </p:nvSpPr>
        <p:spPr>
          <a:xfrm>
            <a:off x="581174" y="877267"/>
            <a:ext cx="1202829" cy="130373"/>
          </a:xfrm>
          <a:prstGeom prst="rect">
            <a:avLst/>
          </a:prstGeom>
          <a:noFill/>
          <a:ln/>
        </p:spPr>
        <p:txBody>
          <a:bodyPr wrap="none" lIns="0" tIns="0" rIns="0" bIns="0" rtlCol="0" anchor="t"/>
          <a:lstStyle/>
          <a:p>
            <a:pPr marL="0" indent="0" algn="l">
              <a:lnSpc>
                <a:spcPct val="96000"/>
              </a:lnSpc>
              <a:buNone/>
            </a:pPr>
            <a:r>
              <a:rPr lang="en-US" sz="850" dirty="0">
                <a:solidFill>
                  <a:srgbClr val="1B5F39"/>
                </a:solidFill>
                <a:latin typeface="Lora" pitchFamily="34" charset="0"/>
                <a:ea typeface="Lora" pitchFamily="34" charset="-122"/>
                <a:cs typeface="Lora" pitchFamily="34" charset="-120"/>
              </a:rPr>
              <a:t>WHO WE ARE</a:t>
            </a:r>
            <a:endParaRPr lang="en-US" sz="850" dirty="0"/>
          </a:p>
        </p:txBody>
      </p:sp>
      <p:sp>
        <p:nvSpPr>
          <p:cNvPr id="4" name="Text 2"/>
          <p:cNvSpPr/>
          <p:nvPr/>
        </p:nvSpPr>
        <p:spPr>
          <a:xfrm>
            <a:off x="496119" y="1106835"/>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Vision, Mission &amp; Core Values</a:t>
            </a:r>
            <a:endParaRPr lang="en-US" sz="2750" dirty="0"/>
          </a:p>
        </p:txBody>
      </p:sp>
      <p:sp>
        <p:nvSpPr>
          <p:cNvPr id="5" name="Shape 3"/>
          <p:cNvSpPr/>
          <p:nvPr/>
        </p:nvSpPr>
        <p:spPr>
          <a:xfrm>
            <a:off x="394022" y="1762423"/>
            <a:ext cx="4107135" cy="2546226"/>
          </a:xfrm>
          <a:prstGeom prst="roundRect">
            <a:avLst>
              <a:gd name="adj" fmla="val 835"/>
            </a:avLst>
          </a:prstGeom>
          <a:solidFill>
            <a:srgbClr val="1B5F39"/>
          </a:solidFill>
          <a:ln/>
        </p:spPr>
      </p:sp>
      <p:sp>
        <p:nvSpPr>
          <p:cNvPr id="6" name="Text 4"/>
          <p:cNvSpPr/>
          <p:nvPr/>
        </p:nvSpPr>
        <p:spPr>
          <a:xfrm>
            <a:off x="535781" y="1904181"/>
            <a:ext cx="3823618"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Alice" pitchFamily="34" charset="0"/>
                <a:ea typeface="Alice" pitchFamily="34" charset="-122"/>
                <a:cs typeface="Alice" pitchFamily="34" charset="-120"/>
              </a:rPr>
              <a:t>Our Vision</a:t>
            </a:r>
            <a:endParaRPr lang="en-US" sz="1350" dirty="0"/>
          </a:p>
        </p:txBody>
      </p:sp>
      <p:sp>
        <p:nvSpPr>
          <p:cNvPr id="7" name="Text 5"/>
          <p:cNvSpPr/>
          <p:nvPr/>
        </p:nvSpPr>
        <p:spPr>
          <a:xfrm>
            <a:off x="535781" y="2171662"/>
            <a:ext cx="3823618" cy="453628"/>
          </a:xfrm>
          <a:prstGeom prst="rect">
            <a:avLst/>
          </a:prstGeom>
          <a:noFill/>
          <a:ln/>
        </p:spPr>
        <p:txBody>
          <a:bodyPr wrap="square" lIns="0" tIns="0" rIns="0" bIns="0" rtlCol="0" anchor="t">
            <a:noAutofit/>
          </a:bodyPr>
          <a:lstStyle/>
          <a:p>
            <a:pPr>
              <a:lnSpc>
                <a:spcPct val="133000"/>
              </a:lnSpc>
            </a:pPr>
            <a:r>
              <a:rPr lang="en-IN" sz="1100" dirty="0">
                <a:solidFill>
                  <a:schemeClr val="bg1"/>
                </a:solidFill>
                <a:latin typeface="Lora" panose="020B0604020202020204" charset="0"/>
              </a:rPr>
              <a:t>To be the leading provider of software solutions and IT services, recognized for excellence, innovation, and customer satisfaction.</a:t>
            </a:r>
          </a:p>
          <a:p>
            <a:pPr marL="0" indent="0" algn="l">
              <a:lnSpc>
                <a:spcPct val="133000"/>
              </a:lnSpc>
              <a:buNone/>
            </a:pPr>
            <a:endParaRPr lang="en-US" sz="1100" dirty="0">
              <a:solidFill>
                <a:schemeClr val="bg1"/>
              </a:solidFill>
              <a:latin typeface="Lora" panose="020B0604020202020204" charset="0"/>
            </a:endParaRPr>
          </a:p>
        </p:txBody>
      </p:sp>
      <p:sp>
        <p:nvSpPr>
          <p:cNvPr id="8" name="Shape 6"/>
          <p:cNvSpPr/>
          <p:nvPr/>
        </p:nvSpPr>
        <p:spPr>
          <a:xfrm>
            <a:off x="535781" y="2915915"/>
            <a:ext cx="3823618" cy="19050"/>
          </a:xfrm>
          <a:prstGeom prst="roundRect">
            <a:avLst>
              <a:gd name="adj" fmla="val 60000"/>
            </a:avLst>
          </a:prstGeom>
          <a:solidFill>
            <a:srgbClr val="FFFFFF">
              <a:alpha val="50000"/>
            </a:srgbClr>
          </a:solidFill>
          <a:ln/>
        </p:spPr>
      </p:sp>
      <p:sp>
        <p:nvSpPr>
          <p:cNvPr id="9" name="Text 7"/>
          <p:cNvSpPr/>
          <p:nvPr/>
        </p:nvSpPr>
        <p:spPr>
          <a:xfrm>
            <a:off x="535781" y="3129855"/>
            <a:ext cx="3823618"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Alice" pitchFamily="34" charset="0"/>
                <a:ea typeface="Alice" pitchFamily="34" charset="-122"/>
                <a:cs typeface="Alice" pitchFamily="34" charset="-120"/>
              </a:rPr>
              <a:t>Our Mission</a:t>
            </a:r>
            <a:endParaRPr lang="en-US" sz="1350" dirty="0"/>
          </a:p>
        </p:txBody>
      </p:sp>
      <p:sp>
        <p:nvSpPr>
          <p:cNvPr id="10" name="Text 8"/>
          <p:cNvSpPr/>
          <p:nvPr/>
        </p:nvSpPr>
        <p:spPr>
          <a:xfrm>
            <a:off x="535781" y="3376352"/>
            <a:ext cx="3823618" cy="453628"/>
          </a:xfrm>
          <a:prstGeom prst="rect">
            <a:avLst/>
          </a:prstGeom>
          <a:noFill/>
          <a:ln/>
        </p:spPr>
        <p:txBody>
          <a:bodyPr wrap="square" lIns="0" tIns="0" rIns="0" bIns="0" rtlCol="0" anchor="t">
            <a:noAutofit/>
          </a:bodyPr>
          <a:lstStyle/>
          <a:p>
            <a:pPr>
              <a:lnSpc>
                <a:spcPct val="133000"/>
              </a:lnSpc>
            </a:pPr>
            <a:r>
              <a:rPr lang="en-US" sz="1100" dirty="0">
                <a:solidFill>
                  <a:schemeClr val="bg1"/>
                </a:solidFill>
                <a:latin typeface="Lora" panose="020B0604020202020204" charset="0"/>
              </a:rPr>
              <a:t>To empower businesses with innovative technological solutions that drive growth, efficiency, and competitive advantage in the digital era.</a:t>
            </a:r>
          </a:p>
        </p:txBody>
      </p:sp>
      <p:sp>
        <p:nvSpPr>
          <p:cNvPr id="11" name="Text 9"/>
          <p:cNvSpPr/>
          <p:nvPr/>
        </p:nvSpPr>
        <p:spPr>
          <a:xfrm>
            <a:off x="4749701" y="1904181"/>
            <a:ext cx="3902943" cy="221456"/>
          </a:xfrm>
          <a:prstGeom prst="rect">
            <a:avLst/>
          </a:prstGeom>
          <a:noFill/>
          <a:ln/>
        </p:spPr>
        <p:txBody>
          <a:bodyPr wrap="none" lIns="0" tIns="0" rIns="0" bIns="0" rtlCol="0" anchor="t"/>
          <a:lstStyle/>
          <a:p>
            <a:pPr marL="0" indent="0" algn="l">
              <a:lnSpc>
                <a:spcPct val="104000"/>
              </a:lnSpc>
              <a:buNone/>
            </a:pPr>
            <a:r>
              <a:rPr lang="en-US" sz="1600" dirty="0">
                <a:solidFill>
                  <a:srgbClr val="233E32"/>
                </a:solidFill>
                <a:latin typeface="Alice" pitchFamily="34" charset="0"/>
                <a:ea typeface="Alice" pitchFamily="34" charset="-122"/>
                <a:cs typeface="Alice" pitchFamily="34" charset="-120"/>
              </a:rPr>
              <a:t>Core Values</a:t>
            </a:r>
            <a:endParaRPr lang="en-US" sz="1600" dirty="0"/>
          </a:p>
        </p:txBody>
      </p:sp>
      <p:pic>
        <p:nvPicPr>
          <p:cNvPr id="1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2832" y="2292176"/>
            <a:ext cx="212601" cy="212601"/>
          </a:xfrm>
          <a:prstGeom prst="rect">
            <a:avLst/>
          </a:prstGeom>
        </p:spPr>
      </p:pic>
      <p:sp>
        <p:nvSpPr>
          <p:cNvPr id="13" name="Text 10"/>
          <p:cNvSpPr/>
          <p:nvPr/>
        </p:nvSpPr>
        <p:spPr>
          <a:xfrm>
            <a:off x="5210398" y="2285107"/>
            <a:ext cx="3442246" cy="226814"/>
          </a:xfrm>
          <a:prstGeom prst="rect">
            <a:avLst/>
          </a:prstGeom>
          <a:noFill/>
          <a:ln/>
        </p:spPr>
        <p:txBody>
          <a:bodyPr wrap="none" lIns="0" tIns="0" rIns="0" bIns="0" rtlCol="0" anchor="t"/>
          <a:lstStyle/>
          <a:p>
            <a:pPr marL="0" indent="0" algn="l">
              <a:lnSpc>
                <a:spcPct val="133000"/>
              </a:lnSpc>
              <a:buNone/>
            </a:pPr>
            <a:r>
              <a:rPr lang="en-US" sz="1400" b="1" dirty="0">
                <a:solidFill>
                  <a:srgbClr val="2C2821"/>
                </a:solidFill>
                <a:latin typeface="Lora Bold" pitchFamily="34" charset="0"/>
                <a:ea typeface="Lora Bold" pitchFamily="34" charset="-122"/>
                <a:cs typeface="Lora Bold" pitchFamily="34" charset="-120"/>
              </a:rPr>
              <a:t>Innovation</a:t>
            </a:r>
            <a:r>
              <a:rPr lang="en-US" sz="1400" dirty="0">
                <a:solidFill>
                  <a:srgbClr val="2C2821"/>
                </a:solidFill>
                <a:latin typeface="Lora" pitchFamily="34" charset="0"/>
                <a:ea typeface="Lora" pitchFamily="34" charset="-122"/>
                <a:cs typeface="Lora" pitchFamily="34" charset="-120"/>
              </a:rPr>
              <a:t> — Forward-thinking solutions</a:t>
            </a:r>
            <a:endParaRPr lang="en-US" sz="1400" dirty="0"/>
          </a:p>
        </p:txBody>
      </p:sp>
      <p:pic>
        <p:nvPicPr>
          <p:cNvPr id="1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2832" y="3008040"/>
            <a:ext cx="212601" cy="212601"/>
          </a:xfrm>
          <a:prstGeom prst="rect">
            <a:avLst/>
          </a:prstGeom>
        </p:spPr>
      </p:pic>
      <p:sp>
        <p:nvSpPr>
          <p:cNvPr id="15" name="Text 11"/>
          <p:cNvSpPr/>
          <p:nvPr/>
        </p:nvSpPr>
        <p:spPr>
          <a:xfrm>
            <a:off x="5210398" y="3000970"/>
            <a:ext cx="3442246" cy="226814"/>
          </a:xfrm>
          <a:prstGeom prst="rect">
            <a:avLst/>
          </a:prstGeom>
          <a:noFill/>
          <a:ln/>
        </p:spPr>
        <p:txBody>
          <a:bodyPr wrap="none" lIns="0" tIns="0" rIns="0" bIns="0" rtlCol="0" anchor="t"/>
          <a:lstStyle/>
          <a:p>
            <a:pPr marL="0" indent="0" algn="l">
              <a:lnSpc>
                <a:spcPct val="133000"/>
              </a:lnSpc>
              <a:buNone/>
            </a:pPr>
            <a:r>
              <a:rPr lang="en-US" sz="1400" b="1" dirty="0">
                <a:solidFill>
                  <a:srgbClr val="2C2821"/>
                </a:solidFill>
                <a:latin typeface="Lora Bold" pitchFamily="34" charset="0"/>
                <a:ea typeface="Lora Bold" pitchFamily="34" charset="-122"/>
                <a:cs typeface="Lora Bold" pitchFamily="34" charset="-120"/>
              </a:rPr>
              <a:t>Excellence</a:t>
            </a:r>
            <a:r>
              <a:rPr lang="en-US" sz="1400" dirty="0">
                <a:solidFill>
                  <a:srgbClr val="2C2821"/>
                </a:solidFill>
                <a:latin typeface="Lora" pitchFamily="34" charset="0"/>
                <a:ea typeface="Lora" pitchFamily="34" charset="-122"/>
                <a:cs typeface="Lora" pitchFamily="34" charset="-120"/>
              </a:rPr>
              <a:t> — Quality in every delivery</a:t>
            </a:r>
            <a:endParaRPr lang="en-US" sz="1400" dirty="0"/>
          </a:p>
        </p:txBody>
      </p:sp>
      <p:pic>
        <p:nvPicPr>
          <p:cNvPr id="16"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2832" y="3723903"/>
            <a:ext cx="212601" cy="212601"/>
          </a:xfrm>
          <a:prstGeom prst="rect">
            <a:avLst/>
          </a:prstGeom>
        </p:spPr>
      </p:pic>
      <p:sp>
        <p:nvSpPr>
          <p:cNvPr id="17" name="Text 12"/>
          <p:cNvSpPr/>
          <p:nvPr/>
        </p:nvSpPr>
        <p:spPr>
          <a:xfrm>
            <a:off x="5210398" y="3716834"/>
            <a:ext cx="3442246" cy="226814"/>
          </a:xfrm>
          <a:prstGeom prst="rect">
            <a:avLst/>
          </a:prstGeom>
          <a:noFill/>
          <a:ln/>
        </p:spPr>
        <p:txBody>
          <a:bodyPr wrap="none" lIns="0" tIns="0" rIns="0" bIns="0" rtlCol="0" anchor="t"/>
          <a:lstStyle/>
          <a:p>
            <a:pPr marL="0" indent="0" algn="l">
              <a:lnSpc>
                <a:spcPct val="133000"/>
              </a:lnSpc>
              <a:buNone/>
            </a:pPr>
            <a:r>
              <a:rPr lang="en-US" sz="1400" b="1" dirty="0">
                <a:solidFill>
                  <a:srgbClr val="2C2821"/>
                </a:solidFill>
                <a:latin typeface="Lora Bold" pitchFamily="34" charset="0"/>
                <a:ea typeface="Lora Bold" pitchFamily="34" charset="-122"/>
                <a:cs typeface="Lora Bold" pitchFamily="34" charset="-120"/>
              </a:rPr>
              <a:t>Integrity</a:t>
            </a:r>
            <a:r>
              <a:rPr lang="en-US" sz="1400" dirty="0">
                <a:solidFill>
                  <a:srgbClr val="2C2821"/>
                </a:solidFill>
                <a:latin typeface="Lora" pitchFamily="34" charset="0"/>
                <a:ea typeface="Lora" pitchFamily="34" charset="-122"/>
                <a:cs typeface="Lora" pitchFamily="34" charset="-120"/>
              </a:rPr>
              <a:t> — Transparent and ethical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669578"/>
            <a:ext cx="1365572" cy="215354"/>
          </a:xfrm>
          <a:prstGeom prst="roundRect">
            <a:avLst>
              <a:gd name="adj" fmla="val 7900"/>
            </a:avLst>
          </a:prstGeom>
          <a:noFill/>
          <a:ln w="4763">
            <a:solidFill>
              <a:srgbClr val="1B5F39"/>
            </a:solidFill>
            <a:prstDash val="solid"/>
          </a:ln>
        </p:spPr>
      </p:sp>
      <p:sp>
        <p:nvSpPr>
          <p:cNvPr id="3" name="Text 1"/>
          <p:cNvSpPr/>
          <p:nvPr/>
        </p:nvSpPr>
        <p:spPr>
          <a:xfrm>
            <a:off x="581174" y="712068"/>
            <a:ext cx="1652662" cy="130373"/>
          </a:xfrm>
          <a:prstGeom prst="rect">
            <a:avLst/>
          </a:prstGeom>
          <a:noFill/>
          <a:ln/>
        </p:spPr>
        <p:txBody>
          <a:bodyPr wrap="none" lIns="0" tIns="0" rIns="0" bIns="0" rtlCol="0" anchor="t"/>
          <a:lstStyle/>
          <a:p>
            <a:pPr marL="0" indent="0" algn="l">
              <a:lnSpc>
                <a:spcPct val="96000"/>
              </a:lnSpc>
              <a:buNone/>
            </a:pPr>
            <a:r>
              <a:rPr lang="en-US" sz="850" dirty="0">
                <a:solidFill>
                  <a:srgbClr val="1B5F39"/>
                </a:solidFill>
                <a:latin typeface="Lora" pitchFamily="34" charset="0"/>
                <a:ea typeface="Lora" pitchFamily="34" charset="-122"/>
                <a:cs typeface="Lora" pitchFamily="34" charset="-120"/>
              </a:rPr>
              <a:t>COMPANY OVERVIEW</a:t>
            </a:r>
            <a:endParaRPr lang="en-US" sz="850" dirty="0"/>
          </a:p>
        </p:txBody>
      </p:sp>
      <p:sp>
        <p:nvSpPr>
          <p:cNvPr id="4" name="Text 2"/>
          <p:cNvSpPr/>
          <p:nvPr/>
        </p:nvSpPr>
        <p:spPr>
          <a:xfrm>
            <a:off x="496119" y="941636"/>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What We Do</a:t>
            </a:r>
            <a:endParaRPr lang="en-US" sz="2750" dirty="0"/>
          </a:p>
        </p:txBody>
      </p:sp>
      <p:sp>
        <p:nvSpPr>
          <p:cNvPr id="5" name="Text 3"/>
          <p:cNvSpPr/>
          <p:nvPr/>
        </p:nvSpPr>
        <p:spPr>
          <a:xfrm>
            <a:off x="496119" y="1597223"/>
            <a:ext cx="8608963" cy="226814"/>
          </a:xfrm>
          <a:prstGeom prst="rect">
            <a:avLst/>
          </a:prstGeom>
          <a:noFill/>
          <a:ln/>
        </p:spPr>
        <p:txBody>
          <a:bodyPr wrap="none" lIns="0" tIns="0" rIns="0" bIns="0" rtlCol="0" anchor="t"/>
          <a:lstStyle/>
          <a:p>
            <a:pPr marL="0" indent="0" algn="l">
              <a:lnSpc>
                <a:spcPct val="133000"/>
              </a:lnSpc>
              <a:buNone/>
            </a:pPr>
            <a:r>
              <a:rPr lang="en-US" sz="1400" dirty="0">
                <a:solidFill>
                  <a:srgbClr val="2C2821"/>
                </a:solidFill>
                <a:latin typeface="Lora" pitchFamily="34" charset="0"/>
                <a:ea typeface="Lora" pitchFamily="34" charset="-122"/>
                <a:cs typeface="Lora" pitchFamily="34" charset="-120"/>
              </a:rPr>
              <a:t>We build technology solutions for modern businesses.</a:t>
            </a:r>
            <a:endParaRPr lang="en-US" sz="1400" dirty="0"/>
          </a:p>
        </p:txBody>
      </p:sp>
      <p:sp>
        <p:nvSpPr>
          <p:cNvPr id="6" name="Text 4"/>
          <p:cNvSpPr/>
          <p:nvPr/>
        </p:nvSpPr>
        <p:spPr>
          <a:xfrm>
            <a:off x="496119" y="2125266"/>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33E32"/>
                </a:solidFill>
                <a:latin typeface="Alice" pitchFamily="34" charset="0"/>
                <a:ea typeface="Alice" pitchFamily="34" charset="-122"/>
                <a:cs typeface="Alice" pitchFamily="34" charset="-120"/>
              </a:rPr>
              <a:t>Services</a:t>
            </a:r>
            <a:endParaRPr lang="en-US" sz="1350" dirty="0"/>
          </a:p>
        </p:txBody>
      </p:sp>
      <p:sp>
        <p:nvSpPr>
          <p:cNvPr id="7" name="Shape 5"/>
          <p:cNvSpPr/>
          <p:nvPr/>
        </p:nvSpPr>
        <p:spPr>
          <a:xfrm>
            <a:off x="496119" y="2506191"/>
            <a:ext cx="1880592" cy="1808187"/>
          </a:xfrm>
          <a:prstGeom prst="roundRect">
            <a:avLst>
              <a:gd name="adj" fmla="val 1176"/>
            </a:avLst>
          </a:prstGeom>
          <a:solidFill>
            <a:srgbClr val="FCFBF8"/>
          </a:solidFill>
          <a:ln w="19050">
            <a:solidFill>
              <a:srgbClr val="D6D3CC"/>
            </a:solidFill>
            <a:prstDash val="solid"/>
          </a:ln>
        </p:spPr>
      </p:sp>
      <p:sp>
        <p:nvSpPr>
          <p:cNvPr id="8" name="Text 6"/>
          <p:cNvSpPr/>
          <p:nvPr/>
        </p:nvSpPr>
        <p:spPr>
          <a:xfrm>
            <a:off x="656927" y="2667000"/>
            <a:ext cx="1558975" cy="664369"/>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Enterprise Software Development</a:t>
            </a:r>
            <a:endParaRPr lang="en-US" sz="1350" dirty="0"/>
          </a:p>
        </p:txBody>
      </p:sp>
      <p:sp>
        <p:nvSpPr>
          <p:cNvPr id="9" name="Text 7"/>
          <p:cNvSpPr/>
          <p:nvPr/>
        </p:nvSpPr>
        <p:spPr>
          <a:xfrm>
            <a:off x="656927" y="3473128"/>
            <a:ext cx="1558975" cy="680442"/>
          </a:xfrm>
          <a:prstGeom prst="rect">
            <a:avLst/>
          </a:prstGeom>
          <a:noFill/>
          <a:ln/>
        </p:spPr>
        <p:txBody>
          <a:bodyPr wrap="square" lIns="0" tIns="0" rIns="0" bIns="0" rtlCol="0" anchor="t">
            <a:noAutofit/>
          </a:bodyPr>
          <a:lstStyle/>
          <a:p>
            <a:pPr marL="0" indent="0" algn="l">
              <a:lnSpc>
                <a:spcPct val="133000"/>
              </a:lnSpc>
              <a:buNone/>
            </a:pPr>
            <a:r>
              <a:rPr lang="en-US" sz="1200" dirty="0">
                <a:latin typeface="Lora" pitchFamily="34" charset="0"/>
                <a:ea typeface="Lora" pitchFamily="34" charset="-122"/>
                <a:cs typeface="Lora" pitchFamily="34" charset="-120"/>
              </a:rPr>
              <a:t>Custom-built solutions for complex business needs.</a:t>
            </a:r>
            <a:endParaRPr lang="en-US" sz="1200" dirty="0"/>
          </a:p>
        </p:txBody>
      </p:sp>
      <p:sp>
        <p:nvSpPr>
          <p:cNvPr id="10" name="Shape 8"/>
          <p:cNvSpPr/>
          <p:nvPr/>
        </p:nvSpPr>
        <p:spPr>
          <a:xfrm>
            <a:off x="2518470" y="2506191"/>
            <a:ext cx="1880592" cy="1808187"/>
          </a:xfrm>
          <a:prstGeom prst="roundRect">
            <a:avLst>
              <a:gd name="adj" fmla="val 1176"/>
            </a:avLst>
          </a:prstGeom>
          <a:solidFill>
            <a:srgbClr val="FCFBF8"/>
          </a:solidFill>
          <a:ln w="19050">
            <a:solidFill>
              <a:srgbClr val="D6D3CC"/>
            </a:solidFill>
            <a:prstDash val="solid"/>
          </a:ln>
        </p:spPr>
      </p:sp>
      <p:sp>
        <p:nvSpPr>
          <p:cNvPr id="11" name="Text 9"/>
          <p:cNvSpPr/>
          <p:nvPr/>
        </p:nvSpPr>
        <p:spPr>
          <a:xfrm>
            <a:off x="2679278" y="2667000"/>
            <a:ext cx="1558975"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Banking Software Products</a:t>
            </a:r>
            <a:endParaRPr lang="en-US" sz="1350" dirty="0"/>
          </a:p>
        </p:txBody>
      </p:sp>
      <p:sp>
        <p:nvSpPr>
          <p:cNvPr id="12" name="Text 10"/>
          <p:cNvSpPr/>
          <p:nvPr/>
        </p:nvSpPr>
        <p:spPr>
          <a:xfrm>
            <a:off x="2679278" y="3528482"/>
            <a:ext cx="1558975" cy="453628"/>
          </a:xfrm>
          <a:prstGeom prst="rect">
            <a:avLst/>
          </a:prstGeom>
          <a:noFill/>
          <a:ln/>
        </p:spPr>
        <p:txBody>
          <a:bodyPr wrap="square" lIns="0" tIns="0" rIns="0" bIns="0" rtlCol="0" anchor="t">
            <a:noAutofit/>
          </a:bodyPr>
          <a:lstStyle/>
          <a:p>
            <a:pPr marL="0" indent="0" algn="l">
              <a:lnSpc>
                <a:spcPct val="133000"/>
              </a:lnSpc>
              <a:buNone/>
            </a:pPr>
            <a:r>
              <a:rPr lang="en-US" sz="1200" dirty="0">
                <a:latin typeface="Lora" pitchFamily="34" charset="0"/>
                <a:ea typeface="Lora" pitchFamily="34" charset="-122"/>
                <a:cs typeface="Lora" pitchFamily="34" charset="-120"/>
              </a:rPr>
              <a:t>Secure products for financial services.</a:t>
            </a:r>
            <a:endParaRPr lang="en-US" sz="1200" dirty="0"/>
          </a:p>
        </p:txBody>
      </p:sp>
      <p:sp>
        <p:nvSpPr>
          <p:cNvPr id="13" name="Text 11"/>
          <p:cNvSpPr/>
          <p:nvPr/>
        </p:nvSpPr>
        <p:spPr>
          <a:xfrm>
            <a:off x="4749701" y="2125266"/>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33E32"/>
                </a:solidFill>
                <a:latin typeface="Alice" pitchFamily="34" charset="0"/>
                <a:ea typeface="Alice" pitchFamily="34" charset="-122"/>
                <a:cs typeface="Alice" pitchFamily="34" charset="-120"/>
              </a:rPr>
              <a:t>Industries Served</a:t>
            </a:r>
            <a:endParaRPr lang="en-US" sz="1350" dirty="0"/>
          </a:p>
        </p:txBody>
      </p:sp>
      <p:sp>
        <p:nvSpPr>
          <p:cNvPr id="14" name="Shape 12"/>
          <p:cNvSpPr/>
          <p:nvPr/>
        </p:nvSpPr>
        <p:spPr>
          <a:xfrm>
            <a:off x="4749701" y="2506191"/>
            <a:ext cx="1880592" cy="726430"/>
          </a:xfrm>
          <a:prstGeom prst="roundRect">
            <a:avLst>
              <a:gd name="adj" fmla="val 2927"/>
            </a:avLst>
          </a:prstGeom>
          <a:solidFill>
            <a:srgbClr val="1B5F39"/>
          </a:solidFill>
          <a:ln/>
        </p:spPr>
      </p:sp>
      <p:sp>
        <p:nvSpPr>
          <p:cNvPr id="15" name="Text 13"/>
          <p:cNvSpPr/>
          <p:nvPr/>
        </p:nvSpPr>
        <p:spPr>
          <a:xfrm>
            <a:off x="4891460" y="2647950"/>
            <a:ext cx="1597075"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FFFFFF"/>
                </a:solidFill>
                <a:latin typeface="Alice" pitchFamily="34" charset="0"/>
                <a:ea typeface="Alice" pitchFamily="34" charset="-122"/>
                <a:cs typeface="Alice" pitchFamily="34" charset="-120"/>
              </a:rPr>
              <a:t>Banking &amp; Financial Services</a:t>
            </a:r>
            <a:endParaRPr lang="en-US" sz="1350" dirty="0"/>
          </a:p>
        </p:txBody>
      </p:sp>
      <p:sp>
        <p:nvSpPr>
          <p:cNvPr id="16" name="Shape 14"/>
          <p:cNvSpPr/>
          <p:nvPr/>
        </p:nvSpPr>
        <p:spPr>
          <a:xfrm>
            <a:off x="6772052" y="2506191"/>
            <a:ext cx="1880592" cy="726430"/>
          </a:xfrm>
          <a:prstGeom prst="roundRect">
            <a:avLst>
              <a:gd name="adj" fmla="val 2927"/>
            </a:avLst>
          </a:prstGeom>
          <a:solidFill>
            <a:srgbClr val="1B5F39"/>
          </a:solidFill>
          <a:ln/>
        </p:spPr>
      </p:sp>
      <p:sp>
        <p:nvSpPr>
          <p:cNvPr id="17" name="Text 15"/>
          <p:cNvSpPr/>
          <p:nvPr/>
        </p:nvSpPr>
        <p:spPr>
          <a:xfrm>
            <a:off x="6913811" y="2647950"/>
            <a:ext cx="1597075"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FFFFFF"/>
                </a:solidFill>
                <a:latin typeface="Alice" pitchFamily="34" charset="0"/>
                <a:ea typeface="Alice" pitchFamily="34" charset="-122"/>
                <a:cs typeface="Alice" pitchFamily="34" charset="-120"/>
              </a:rPr>
              <a:t>Enterprise Businesses</a:t>
            </a:r>
            <a:endParaRPr lang="en-US" sz="1350" dirty="0"/>
          </a:p>
        </p:txBody>
      </p:sp>
      <p:sp>
        <p:nvSpPr>
          <p:cNvPr id="18" name="Shape 16"/>
          <p:cNvSpPr/>
          <p:nvPr/>
        </p:nvSpPr>
        <p:spPr>
          <a:xfrm>
            <a:off x="4749701" y="3374380"/>
            <a:ext cx="3902943" cy="504974"/>
          </a:xfrm>
          <a:prstGeom prst="roundRect">
            <a:avLst>
              <a:gd name="adj" fmla="val 4211"/>
            </a:avLst>
          </a:prstGeom>
          <a:solidFill>
            <a:srgbClr val="1B5F39"/>
          </a:solidFill>
          <a:ln/>
        </p:spPr>
      </p:sp>
      <p:sp>
        <p:nvSpPr>
          <p:cNvPr id="19" name="Text 17"/>
          <p:cNvSpPr/>
          <p:nvPr/>
        </p:nvSpPr>
        <p:spPr>
          <a:xfrm>
            <a:off x="4891460" y="3516139"/>
            <a:ext cx="3619426"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Alice" pitchFamily="34" charset="0"/>
                <a:ea typeface="Alice" pitchFamily="34" charset="-122"/>
                <a:cs typeface="Alice" pitchFamily="34" charset="-120"/>
              </a:rPr>
              <a:t>Oil &amp; Gas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99946"/>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Refer • Earn • Reward &amp; Donate</a:t>
            </a:r>
            <a:endParaRPr lang="en-US" sz="2750" dirty="0"/>
          </a:p>
        </p:txBody>
      </p:sp>
      <p:sp>
        <p:nvSpPr>
          <p:cNvPr id="5" name="Rectangle 4">
            <a:extLst>
              <a:ext uri="{FF2B5EF4-FFF2-40B4-BE49-F238E27FC236}">
                <a16:creationId xmlns:a16="http://schemas.microsoft.com/office/drawing/2014/main" id="{B5A64A51-1468-41C7-A8FE-09920A534373}"/>
              </a:ext>
            </a:extLst>
          </p:cNvPr>
          <p:cNvSpPr/>
          <p:nvPr/>
        </p:nvSpPr>
        <p:spPr>
          <a:xfrm>
            <a:off x="496119" y="914399"/>
            <a:ext cx="6361881" cy="3662541"/>
          </a:xfrm>
          <a:prstGeom prst="rect">
            <a:avLst/>
          </a:prstGeom>
        </p:spPr>
        <p:txBody>
          <a:bodyPr wrap="square">
            <a:spAutoFit/>
          </a:bodyPr>
          <a:lstStyle/>
          <a:p>
            <a:r>
              <a:rPr lang="en-US" b="1" dirty="0">
                <a:solidFill>
                  <a:srgbClr val="203D0B"/>
                </a:solidFill>
                <a:latin typeface="Lora" panose="020B0604020202020204" charset="0"/>
              </a:rPr>
              <a:t>A Smart Referral Management Platform</a:t>
            </a:r>
          </a:p>
          <a:p>
            <a:endParaRPr lang="en-US" b="1" dirty="0">
              <a:latin typeface="Lora" panose="020B0604020202020204" charset="0"/>
            </a:endParaRPr>
          </a:p>
          <a:p>
            <a:r>
              <a:rPr lang="en-US" sz="1600" b="1" dirty="0">
                <a:latin typeface="Lora" panose="020B0604020202020204" charset="0"/>
              </a:rPr>
              <a:t>Overview</a:t>
            </a:r>
          </a:p>
          <a:p>
            <a:endParaRPr lang="en-US" sz="1600" b="1" dirty="0">
              <a:latin typeface="Lora" panose="020B0604020202020204" charset="0"/>
            </a:endParaRPr>
          </a:p>
          <a:p>
            <a:pPr marL="171450" indent="-171450">
              <a:buFont typeface="Arial" panose="020B0604020202020204" pitchFamily="34" charset="0"/>
              <a:buChar char="•"/>
            </a:pPr>
            <a:r>
              <a:rPr lang="en-US" sz="1200" dirty="0">
                <a:latin typeface="Lora" panose="020B0604020202020204" charset="0"/>
              </a:rPr>
              <a:t>Businesses often struggle to manage referrals efficiently due to manual processes, limited visibility, and delayed reward distribution.</a:t>
            </a:r>
          </a:p>
          <a:p>
            <a:endParaRPr lang="en-US" sz="1200" dirty="0">
              <a:latin typeface="Lora" panose="020B0604020202020204" charset="0"/>
            </a:endParaRPr>
          </a:p>
          <a:p>
            <a:pPr marL="171450" indent="-171450">
              <a:buFont typeface="Arial" panose="020B0604020202020204" pitchFamily="34" charset="0"/>
              <a:buChar char="•"/>
            </a:pPr>
            <a:r>
              <a:rPr lang="en-US" sz="1200" dirty="0">
                <a:latin typeface="Lora" panose="020B0604020202020204" charset="0"/>
              </a:rPr>
              <a:t>Our platform provides a centralized ecosystem where businesses can create referral opportunities, trusted referrers can connect potential customers, and successful referrals are rewarded through a transparent and structured workflow.</a:t>
            </a:r>
          </a:p>
          <a:p>
            <a:endParaRPr lang="en-US" sz="1200" dirty="0">
              <a:latin typeface="Lora" panose="020B0604020202020204" charset="0"/>
            </a:endParaRPr>
          </a:p>
          <a:p>
            <a:r>
              <a:rPr lang="en-US" sz="1600" b="1" dirty="0">
                <a:latin typeface="Lora" panose="020B0604020202020204" charset="0"/>
              </a:rPr>
              <a:t>Key Highlights</a:t>
            </a:r>
          </a:p>
          <a:p>
            <a:endParaRPr lang="en-US" sz="1600" b="1" dirty="0">
              <a:latin typeface="Lora" panose="020B0604020202020204" charset="0"/>
            </a:endParaRPr>
          </a:p>
          <a:p>
            <a:pPr>
              <a:buFont typeface="Arial" panose="020B0604020202020204" pitchFamily="34" charset="0"/>
              <a:buChar char="•"/>
            </a:pPr>
            <a:r>
              <a:rPr lang="en-US" sz="1200" dirty="0">
                <a:latin typeface="Lora" panose="020B0604020202020204" charset="0"/>
              </a:rPr>
              <a:t>Centralized Referral Management </a:t>
            </a:r>
          </a:p>
          <a:p>
            <a:pPr>
              <a:buFont typeface="Arial" panose="020B0604020202020204" pitchFamily="34" charset="0"/>
              <a:buChar char="•"/>
            </a:pPr>
            <a:r>
              <a:rPr lang="en-US" sz="1200" dirty="0">
                <a:latin typeface="Lora" panose="020B0604020202020204" charset="0"/>
              </a:rPr>
              <a:t>Transparent Reward System </a:t>
            </a:r>
          </a:p>
          <a:p>
            <a:pPr>
              <a:buFont typeface="Arial" panose="020B0604020202020204" pitchFamily="34" charset="0"/>
              <a:buChar char="•"/>
            </a:pPr>
            <a:r>
              <a:rPr lang="en-US" sz="1200" dirty="0">
                <a:latin typeface="Lora" panose="020B0604020202020204" charset="0"/>
              </a:rPr>
              <a:t>Digital Wallet &amp; Donations </a:t>
            </a:r>
          </a:p>
          <a:p>
            <a:pPr>
              <a:buFont typeface="Arial" panose="020B0604020202020204" pitchFamily="34" charset="0"/>
              <a:buChar char="•"/>
            </a:pPr>
            <a:r>
              <a:rPr lang="en-US" sz="1200" dirty="0">
                <a:latin typeface="Lora" panose="020B0604020202020204" charset="0"/>
              </a:rPr>
              <a:t>Real-Time Analytics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1497509"/>
            <a:ext cx="969169" cy="215354"/>
          </a:xfrm>
          <a:prstGeom prst="roundRect">
            <a:avLst>
              <a:gd name="adj" fmla="val 7900"/>
            </a:avLst>
          </a:prstGeom>
          <a:noFill/>
          <a:ln w="4763">
            <a:solidFill>
              <a:srgbClr val="1B5F39"/>
            </a:solidFill>
            <a:prstDash val="solid"/>
          </a:ln>
        </p:spPr>
      </p:sp>
      <p:sp>
        <p:nvSpPr>
          <p:cNvPr id="3" name="Text 1"/>
          <p:cNvSpPr/>
          <p:nvPr/>
        </p:nvSpPr>
        <p:spPr>
          <a:xfrm>
            <a:off x="581174" y="1539999"/>
            <a:ext cx="1256258" cy="130373"/>
          </a:xfrm>
          <a:prstGeom prst="rect">
            <a:avLst/>
          </a:prstGeom>
          <a:noFill/>
          <a:ln/>
        </p:spPr>
        <p:txBody>
          <a:bodyPr wrap="none" lIns="0" tIns="0" rIns="0" bIns="0" rtlCol="0" anchor="t"/>
          <a:lstStyle/>
          <a:p>
            <a:pPr marL="0" indent="0" algn="l">
              <a:lnSpc>
                <a:spcPct val="96000"/>
              </a:lnSpc>
              <a:buNone/>
            </a:pPr>
            <a:r>
              <a:rPr lang="en-US" sz="850" dirty="0">
                <a:solidFill>
                  <a:srgbClr val="1B5F39"/>
                </a:solidFill>
                <a:latin typeface="Lora" pitchFamily="34" charset="0"/>
                <a:ea typeface="Lora" pitchFamily="34" charset="-122"/>
                <a:cs typeface="Lora" pitchFamily="34" charset="-120"/>
              </a:rPr>
              <a:t>THE PROBLEM</a:t>
            </a:r>
            <a:endParaRPr lang="en-US" sz="850" dirty="0"/>
          </a:p>
        </p:txBody>
      </p:sp>
      <p:sp>
        <p:nvSpPr>
          <p:cNvPr id="4" name="Text 2"/>
          <p:cNvSpPr/>
          <p:nvPr/>
        </p:nvSpPr>
        <p:spPr>
          <a:xfrm>
            <a:off x="496119" y="1769566"/>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Business Challenges in Referral Management</a:t>
            </a:r>
            <a:endParaRPr lang="en-US" sz="27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425154"/>
            <a:ext cx="283518" cy="283518"/>
          </a:xfrm>
          <a:prstGeom prst="rect">
            <a:avLst/>
          </a:prstGeom>
        </p:spPr>
      </p:pic>
      <p:sp>
        <p:nvSpPr>
          <p:cNvPr id="6" name="Text 3"/>
          <p:cNvSpPr/>
          <p:nvPr/>
        </p:nvSpPr>
        <p:spPr>
          <a:xfrm>
            <a:off x="496119" y="2885852"/>
            <a:ext cx="2599134"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Manual Tracking</a:t>
            </a:r>
            <a:endParaRPr lang="en-US" sz="1350" dirty="0"/>
          </a:p>
        </p:txBody>
      </p:sp>
      <p:sp>
        <p:nvSpPr>
          <p:cNvPr id="7" name="Text 4"/>
          <p:cNvSpPr/>
          <p:nvPr/>
        </p:nvSpPr>
        <p:spPr>
          <a:xfrm>
            <a:off x="496119" y="3192363"/>
            <a:ext cx="2599134" cy="453628"/>
          </a:xfrm>
          <a:prstGeom prst="rect">
            <a:avLst/>
          </a:prstGeom>
          <a:noFill/>
          <a:ln/>
        </p:spPr>
        <p:txBody>
          <a:bodyPr wrap="square" lIns="0" tIns="0" rIns="0" bIns="0" rtlCol="0" anchor="t">
            <a:noAutofit/>
          </a:bodyPr>
          <a:lstStyle/>
          <a:p>
            <a:pPr marL="0" indent="0" algn="l">
              <a:lnSpc>
                <a:spcPct val="133000"/>
              </a:lnSpc>
              <a:buNone/>
            </a:pPr>
            <a:r>
              <a:rPr lang="en-US" sz="1200" dirty="0">
                <a:latin typeface="Lora" pitchFamily="34" charset="0"/>
                <a:ea typeface="Lora" pitchFamily="34" charset="-122"/>
                <a:cs typeface="Lora" pitchFamily="34" charset="-120"/>
              </a:rPr>
              <a:t>Spreadsheets and manual processes cause errors and delays.</a:t>
            </a:r>
            <a:endParaRPr lang="en-US" sz="120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2433" y="2425154"/>
            <a:ext cx="283518" cy="283518"/>
          </a:xfrm>
          <a:prstGeom prst="rect">
            <a:avLst/>
          </a:prstGeom>
        </p:spPr>
      </p:pic>
      <p:sp>
        <p:nvSpPr>
          <p:cNvPr id="9" name="Text 5"/>
          <p:cNvSpPr/>
          <p:nvPr/>
        </p:nvSpPr>
        <p:spPr>
          <a:xfrm>
            <a:off x="3272433" y="2885852"/>
            <a:ext cx="2599134"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Lack of Transparency</a:t>
            </a:r>
            <a:endParaRPr lang="en-US" sz="1350" dirty="0"/>
          </a:p>
        </p:txBody>
      </p:sp>
      <p:sp>
        <p:nvSpPr>
          <p:cNvPr id="10" name="Text 6"/>
          <p:cNvSpPr/>
          <p:nvPr/>
        </p:nvSpPr>
        <p:spPr>
          <a:xfrm>
            <a:off x="3272433" y="3192363"/>
            <a:ext cx="2599134" cy="453628"/>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2C2821"/>
                </a:solidFill>
                <a:latin typeface="Lora" pitchFamily="34" charset="0"/>
                <a:ea typeface="Lora" pitchFamily="34" charset="-122"/>
                <a:cs typeface="Lora" pitchFamily="34" charset="-120"/>
              </a:rPr>
              <a:t>Referrers can't see referral status or outcomes.</a:t>
            </a:r>
            <a:endParaRPr lang="en-US" sz="1200" dirty="0"/>
          </a:p>
        </p:txBody>
      </p:sp>
      <p:pic>
        <p:nvPicPr>
          <p:cNvPr id="1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48747" y="2425154"/>
            <a:ext cx="283518" cy="283518"/>
          </a:xfrm>
          <a:prstGeom prst="rect">
            <a:avLst/>
          </a:prstGeom>
        </p:spPr>
      </p:pic>
      <p:sp>
        <p:nvSpPr>
          <p:cNvPr id="12" name="Text 7"/>
          <p:cNvSpPr/>
          <p:nvPr/>
        </p:nvSpPr>
        <p:spPr>
          <a:xfrm>
            <a:off x="6048747" y="2885852"/>
            <a:ext cx="2599134"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Duplicate Referrals</a:t>
            </a:r>
            <a:endParaRPr lang="en-US" sz="1350" dirty="0"/>
          </a:p>
        </p:txBody>
      </p:sp>
      <p:sp>
        <p:nvSpPr>
          <p:cNvPr id="13" name="Text 8"/>
          <p:cNvSpPr/>
          <p:nvPr/>
        </p:nvSpPr>
        <p:spPr>
          <a:xfrm>
            <a:off x="6048747" y="3192363"/>
            <a:ext cx="2599134" cy="453628"/>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2C2821"/>
                </a:solidFill>
                <a:latin typeface="Lora" pitchFamily="34" charset="0"/>
                <a:ea typeface="Lora" pitchFamily="34" charset="-122"/>
                <a:cs typeface="Lora" pitchFamily="34" charset="-120"/>
              </a:rPr>
              <a:t>Overlapping entries create disputes and weaken trust.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839763"/>
            <a:ext cx="1041574" cy="215354"/>
          </a:xfrm>
          <a:prstGeom prst="roundRect">
            <a:avLst>
              <a:gd name="adj" fmla="val 7900"/>
            </a:avLst>
          </a:prstGeom>
          <a:noFill/>
          <a:ln w="4763">
            <a:solidFill>
              <a:srgbClr val="1B5F39"/>
            </a:solidFill>
            <a:prstDash val="solid"/>
          </a:ln>
        </p:spPr>
      </p:sp>
      <p:sp>
        <p:nvSpPr>
          <p:cNvPr id="3" name="Text 1"/>
          <p:cNvSpPr/>
          <p:nvPr/>
        </p:nvSpPr>
        <p:spPr>
          <a:xfrm>
            <a:off x="581174" y="882253"/>
            <a:ext cx="1328663" cy="130373"/>
          </a:xfrm>
          <a:prstGeom prst="rect">
            <a:avLst/>
          </a:prstGeom>
          <a:noFill/>
          <a:ln/>
        </p:spPr>
        <p:txBody>
          <a:bodyPr wrap="none" lIns="0" tIns="0" rIns="0" bIns="0" rtlCol="0" anchor="t"/>
          <a:lstStyle/>
          <a:p>
            <a:pPr marL="0" indent="0" algn="l">
              <a:lnSpc>
                <a:spcPct val="96000"/>
              </a:lnSpc>
              <a:buNone/>
            </a:pPr>
            <a:r>
              <a:rPr lang="en-US" sz="850" dirty="0">
                <a:solidFill>
                  <a:srgbClr val="1B5F39"/>
                </a:solidFill>
                <a:latin typeface="Lora" pitchFamily="34" charset="0"/>
                <a:ea typeface="Lora" pitchFamily="34" charset="-122"/>
                <a:cs typeface="Lora" pitchFamily="34" charset="-120"/>
              </a:rPr>
              <a:t>HOW IT WORKS</a:t>
            </a:r>
            <a:endParaRPr lang="en-US" sz="850" dirty="0"/>
          </a:p>
        </p:txBody>
      </p:sp>
      <p:sp>
        <p:nvSpPr>
          <p:cNvPr id="4" name="Text 2"/>
          <p:cNvSpPr/>
          <p:nvPr/>
        </p:nvSpPr>
        <p:spPr>
          <a:xfrm>
            <a:off x="496119" y="1111821"/>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Our Solution: End-to-End Referral Workflow</a:t>
            </a:r>
            <a:endParaRPr lang="en-US" sz="2750" dirty="0"/>
          </a:p>
        </p:txBody>
      </p:sp>
      <p:sp>
        <p:nvSpPr>
          <p:cNvPr id="5" name="Text 3"/>
          <p:cNvSpPr/>
          <p:nvPr/>
        </p:nvSpPr>
        <p:spPr>
          <a:xfrm>
            <a:off x="496119" y="1767408"/>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2C2821"/>
                </a:solidFill>
                <a:latin typeface="Alice" pitchFamily="34" charset="0"/>
                <a:ea typeface="Alice" pitchFamily="34" charset="-122"/>
                <a:cs typeface="Alice" pitchFamily="34" charset="-120"/>
              </a:rPr>
              <a:t>01</a:t>
            </a:r>
            <a:endParaRPr lang="en-US" sz="1100" dirty="0"/>
          </a:p>
        </p:txBody>
      </p:sp>
      <p:sp>
        <p:nvSpPr>
          <p:cNvPr id="6" name="Shape 4"/>
          <p:cNvSpPr/>
          <p:nvPr/>
        </p:nvSpPr>
        <p:spPr>
          <a:xfrm>
            <a:off x="496119" y="1989311"/>
            <a:ext cx="2622724" cy="19050"/>
          </a:xfrm>
          <a:prstGeom prst="rect">
            <a:avLst/>
          </a:prstGeom>
          <a:solidFill>
            <a:srgbClr val="1B5F39"/>
          </a:solidFill>
          <a:ln/>
        </p:spPr>
      </p:sp>
      <p:sp>
        <p:nvSpPr>
          <p:cNvPr id="7" name="Text 5"/>
          <p:cNvSpPr/>
          <p:nvPr/>
        </p:nvSpPr>
        <p:spPr>
          <a:xfrm>
            <a:off x="496119" y="2098253"/>
            <a:ext cx="2622724"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Publish Opportunities</a:t>
            </a:r>
            <a:endParaRPr lang="en-US" sz="1350" dirty="0"/>
          </a:p>
        </p:txBody>
      </p:sp>
      <p:sp>
        <p:nvSpPr>
          <p:cNvPr id="8" name="Text 6"/>
          <p:cNvSpPr/>
          <p:nvPr/>
        </p:nvSpPr>
        <p:spPr>
          <a:xfrm>
            <a:off x="496119" y="2404765"/>
            <a:ext cx="2622724" cy="453628"/>
          </a:xfrm>
          <a:prstGeom prst="rect">
            <a:avLst/>
          </a:prstGeom>
          <a:noFill/>
          <a:ln/>
        </p:spPr>
        <p:txBody>
          <a:bodyPr wrap="square" lIns="0" tIns="0" rIns="0" bIns="0" rtlCol="0" anchor="t">
            <a:normAutofit/>
          </a:bodyPr>
          <a:lstStyle/>
          <a:p>
            <a:pPr marL="0" indent="0" algn="l">
              <a:lnSpc>
                <a:spcPct val="133000"/>
              </a:lnSpc>
              <a:buNone/>
            </a:pPr>
            <a:r>
              <a:rPr lang="en-US" sz="1100" dirty="0">
                <a:latin typeface="Lora" pitchFamily="34" charset="0"/>
                <a:ea typeface="Lora" pitchFamily="34" charset="-122"/>
                <a:cs typeface="Lora" pitchFamily="34" charset="-120"/>
              </a:rPr>
              <a:t>Businesses share referral opportunities in one central place.</a:t>
            </a:r>
            <a:endParaRPr lang="en-US" sz="1100" dirty="0"/>
          </a:p>
        </p:txBody>
      </p:sp>
      <p:sp>
        <p:nvSpPr>
          <p:cNvPr id="9" name="Text 7"/>
          <p:cNvSpPr/>
          <p:nvPr/>
        </p:nvSpPr>
        <p:spPr>
          <a:xfrm>
            <a:off x="3260601" y="1767408"/>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2C2821"/>
                </a:solidFill>
                <a:latin typeface="Alice" pitchFamily="34" charset="0"/>
                <a:ea typeface="Alice" pitchFamily="34" charset="-122"/>
                <a:cs typeface="Alice" pitchFamily="34" charset="-120"/>
              </a:rPr>
              <a:t>02</a:t>
            </a:r>
            <a:endParaRPr lang="en-US" sz="1100" dirty="0"/>
          </a:p>
        </p:txBody>
      </p:sp>
      <p:sp>
        <p:nvSpPr>
          <p:cNvPr id="10" name="Shape 8"/>
          <p:cNvSpPr/>
          <p:nvPr/>
        </p:nvSpPr>
        <p:spPr>
          <a:xfrm>
            <a:off x="3260601" y="1989311"/>
            <a:ext cx="2622724" cy="19050"/>
          </a:xfrm>
          <a:prstGeom prst="rect">
            <a:avLst/>
          </a:prstGeom>
          <a:solidFill>
            <a:srgbClr val="1B5F39"/>
          </a:solidFill>
          <a:ln/>
        </p:spPr>
      </p:sp>
      <p:sp>
        <p:nvSpPr>
          <p:cNvPr id="11" name="Text 9"/>
          <p:cNvSpPr/>
          <p:nvPr/>
        </p:nvSpPr>
        <p:spPr>
          <a:xfrm>
            <a:off x="3260601" y="2098253"/>
            <a:ext cx="2622724"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Submit Referral</a:t>
            </a:r>
            <a:endParaRPr lang="en-US" sz="1350" dirty="0"/>
          </a:p>
        </p:txBody>
      </p:sp>
      <p:sp>
        <p:nvSpPr>
          <p:cNvPr id="12" name="Text 10"/>
          <p:cNvSpPr/>
          <p:nvPr/>
        </p:nvSpPr>
        <p:spPr>
          <a:xfrm>
            <a:off x="3260601" y="2404765"/>
            <a:ext cx="262272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Referrals are captured in a structured workflow with clear ownership.</a:t>
            </a:r>
            <a:endParaRPr lang="en-US" sz="1100" dirty="0"/>
          </a:p>
        </p:txBody>
      </p:sp>
      <p:sp>
        <p:nvSpPr>
          <p:cNvPr id="13" name="Text 11"/>
          <p:cNvSpPr/>
          <p:nvPr/>
        </p:nvSpPr>
        <p:spPr>
          <a:xfrm>
            <a:off x="6025083" y="1767408"/>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2C2821"/>
                </a:solidFill>
                <a:latin typeface="Alice" pitchFamily="34" charset="0"/>
                <a:ea typeface="Alice" pitchFamily="34" charset="-122"/>
                <a:cs typeface="Alice" pitchFamily="34" charset="-120"/>
              </a:rPr>
              <a:t>03</a:t>
            </a:r>
            <a:endParaRPr lang="en-US" sz="1100" dirty="0"/>
          </a:p>
        </p:txBody>
      </p:sp>
      <p:sp>
        <p:nvSpPr>
          <p:cNvPr id="14" name="Shape 12"/>
          <p:cNvSpPr/>
          <p:nvPr/>
        </p:nvSpPr>
        <p:spPr>
          <a:xfrm>
            <a:off x="6025083" y="1989311"/>
            <a:ext cx="2622724" cy="19050"/>
          </a:xfrm>
          <a:prstGeom prst="rect">
            <a:avLst/>
          </a:prstGeom>
          <a:solidFill>
            <a:srgbClr val="1B5F39"/>
          </a:solidFill>
          <a:ln/>
        </p:spPr>
      </p:sp>
      <p:sp>
        <p:nvSpPr>
          <p:cNvPr id="15" name="Text 13"/>
          <p:cNvSpPr/>
          <p:nvPr/>
        </p:nvSpPr>
        <p:spPr>
          <a:xfrm>
            <a:off x="6025083" y="2098253"/>
            <a:ext cx="2622724"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Review &amp; Approve</a:t>
            </a:r>
            <a:endParaRPr lang="en-US" sz="1350" dirty="0"/>
          </a:p>
        </p:txBody>
      </p:sp>
      <p:sp>
        <p:nvSpPr>
          <p:cNvPr id="16" name="Text 14"/>
          <p:cNvSpPr/>
          <p:nvPr/>
        </p:nvSpPr>
        <p:spPr>
          <a:xfrm>
            <a:off x="6025083" y="2404765"/>
            <a:ext cx="262272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Submissions move through validation to confirm eligibility and accuracy.</a:t>
            </a:r>
            <a:endParaRPr lang="en-US" sz="1100" dirty="0"/>
          </a:p>
        </p:txBody>
      </p:sp>
      <p:sp>
        <p:nvSpPr>
          <p:cNvPr id="17" name="Text 15"/>
          <p:cNvSpPr/>
          <p:nvPr/>
        </p:nvSpPr>
        <p:spPr>
          <a:xfrm>
            <a:off x="496119" y="3106415"/>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2C2821"/>
                </a:solidFill>
                <a:latin typeface="Alice" pitchFamily="34" charset="0"/>
                <a:ea typeface="Alice" pitchFamily="34" charset="-122"/>
                <a:cs typeface="Alice" pitchFamily="34" charset="-120"/>
              </a:rPr>
              <a:t>04</a:t>
            </a:r>
            <a:endParaRPr lang="en-US" sz="1100" dirty="0"/>
          </a:p>
        </p:txBody>
      </p:sp>
      <p:sp>
        <p:nvSpPr>
          <p:cNvPr id="18" name="Shape 16"/>
          <p:cNvSpPr/>
          <p:nvPr/>
        </p:nvSpPr>
        <p:spPr>
          <a:xfrm>
            <a:off x="496119" y="3328318"/>
            <a:ext cx="4004965" cy="19050"/>
          </a:xfrm>
          <a:prstGeom prst="rect">
            <a:avLst/>
          </a:prstGeom>
          <a:solidFill>
            <a:srgbClr val="1B5F39"/>
          </a:solidFill>
          <a:ln/>
        </p:spPr>
      </p:sp>
      <p:sp>
        <p:nvSpPr>
          <p:cNvPr id="19" name="Text 17"/>
          <p:cNvSpPr/>
          <p:nvPr/>
        </p:nvSpPr>
        <p:spPr>
          <a:xfrm>
            <a:off x="496119" y="3437260"/>
            <a:ext cx="4004965"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Distribute Rewards</a:t>
            </a:r>
            <a:endParaRPr lang="en-US" sz="1350" dirty="0"/>
          </a:p>
        </p:txBody>
      </p:sp>
      <p:sp>
        <p:nvSpPr>
          <p:cNvPr id="20" name="Text 18"/>
          <p:cNvSpPr/>
          <p:nvPr/>
        </p:nvSpPr>
        <p:spPr>
          <a:xfrm>
            <a:off x="496119" y="3743771"/>
            <a:ext cx="400496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Approved referrals trigger rewards through the same system.</a:t>
            </a:r>
            <a:endParaRPr lang="en-US" sz="1100" dirty="0"/>
          </a:p>
        </p:txBody>
      </p:sp>
      <p:sp>
        <p:nvSpPr>
          <p:cNvPr id="21" name="Text 19"/>
          <p:cNvSpPr/>
          <p:nvPr/>
        </p:nvSpPr>
        <p:spPr>
          <a:xfrm>
            <a:off x="4642842" y="3106415"/>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2C2821"/>
                </a:solidFill>
                <a:latin typeface="Alice" pitchFamily="34" charset="0"/>
                <a:ea typeface="Alice" pitchFamily="34" charset="-122"/>
                <a:cs typeface="Alice" pitchFamily="34" charset="-120"/>
              </a:rPr>
              <a:t>05</a:t>
            </a:r>
            <a:endParaRPr lang="en-US" sz="1100" dirty="0"/>
          </a:p>
        </p:txBody>
      </p:sp>
      <p:sp>
        <p:nvSpPr>
          <p:cNvPr id="22" name="Shape 20"/>
          <p:cNvSpPr/>
          <p:nvPr/>
        </p:nvSpPr>
        <p:spPr>
          <a:xfrm>
            <a:off x="4642842" y="3328318"/>
            <a:ext cx="4004965" cy="19050"/>
          </a:xfrm>
          <a:prstGeom prst="rect">
            <a:avLst/>
          </a:prstGeom>
          <a:solidFill>
            <a:srgbClr val="1B5F39"/>
          </a:solidFill>
          <a:ln/>
        </p:spPr>
      </p:sp>
      <p:sp>
        <p:nvSpPr>
          <p:cNvPr id="23" name="Text 21"/>
          <p:cNvSpPr/>
          <p:nvPr/>
        </p:nvSpPr>
        <p:spPr>
          <a:xfrm>
            <a:off x="4642842" y="3437260"/>
            <a:ext cx="4004965"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Track &amp; Report</a:t>
            </a:r>
            <a:endParaRPr lang="en-US" sz="1350" dirty="0"/>
          </a:p>
        </p:txBody>
      </p:sp>
      <p:sp>
        <p:nvSpPr>
          <p:cNvPr id="24" name="Text 22"/>
          <p:cNvSpPr/>
          <p:nvPr/>
        </p:nvSpPr>
        <p:spPr>
          <a:xfrm>
            <a:off x="4642842" y="3743771"/>
            <a:ext cx="400496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Teams monitor status, communication, and performance in one platform.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683716"/>
            <a:ext cx="1542678" cy="215354"/>
          </a:xfrm>
          <a:prstGeom prst="roundRect">
            <a:avLst>
              <a:gd name="adj" fmla="val 7900"/>
            </a:avLst>
          </a:prstGeom>
          <a:noFill/>
          <a:ln w="4763">
            <a:solidFill>
              <a:srgbClr val="1B5F39"/>
            </a:solidFill>
            <a:prstDash val="solid"/>
          </a:ln>
        </p:spPr>
      </p:sp>
      <p:sp>
        <p:nvSpPr>
          <p:cNvPr id="3" name="Text 1"/>
          <p:cNvSpPr/>
          <p:nvPr/>
        </p:nvSpPr>
        <p:spPr>
          <a:xfrm>
            <a:off x="581174" y="726207"/>
            <a:ext cx="1829767" cy="130373"/>
          </a:xfrm>
          <a:prstGeom prst="rect">
            <a:avLst/>
          </a:prstGeom>
          <a:noFill/>
          <a:ln/>
        </p:spPr>
        <p:txBody>
          <a:bodyPr wrap="none" lIns="0" tIns="0" rIns="0" bIns="0" rtlCol="0" anchor="t"/>
          <a:lstStyle/>
          <a:p>
            <a:pPr marL="0" indent="0" algn="l">
              <a:lnSpc>
                <a:spcPct val="96000"/>
              </a:lnSpc>
              <a:buNone/>
            </a:pPr>
            <a:r>
              <a:rPr lang="en-US" sz="850" dirty="0">
                <a:solidFill>
                  <a:srgbClr val="1B5F39"/>
                </a:solidFill>
                <a:latin typeface="Lora" pitchFamily="34" charset="0"/>
                <a:ea typeface="Lora" pitchFamily="34" charset="-122"/>
                <a:cs typeface="Lora" pitchFamily="34" charset="-120"/>
              </a:rPr>
              <a:t>PLATFORM CAPABILITIES</a:t>
            </a:r>
            <a:endParaRPr lang="en-US" sz="850" dirty="0"/>
          </a:p>
        </p:txBody>
      </p:sp>
      <p:sp>
        <p:nvSpPr>
          <p:cNvPr id="4" name="Text 2"/>
          <p:cNvSpPr/>
          <p:nvPr/>
        </p:nvSpPr>
        <p:spPr>
          <a:xfrm>
            <a:off x="496119" y="955774"/>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Key Features</a:t>
            </a:r>
            <a:endParaRPr lang="en-US" sz="27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611362"/>
            <a:ext cx="8151763" cy="854943"/>
          </a:xfrm>
          <a:prstGeom prst="rect">
            <a:avLst/>
          </a:prstGeom>
        </p:spPr>
      </p:pic>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2348" y="1932459"/>
            <a:ext cx="212601" cy="212601"/>
          </a:xfrm>
          <a:prstGeom prst="rect">
            <a:avLst/>
          </a:prstGeom>
        </p:spPr>
      </p:pic>
      <p:sp>
        <p:nvSpPr>
          <p:cNvPr id="7" name="Text 3"/>
          <p:cNvSpPr/>
          <p:nvPr/>
        </p:nvSpPr>
        <p:spPr>
          <a:xfrm>
            <a:off x="1223963" y="1772171"/>
            <a:ext cx="7263110"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Role-Based Access</a:t>
            </a:r>
            <a:endParaRPr lang="en-US" sz="1350" dirty="0"/>
          </a:p>
        </p:txBody>
      </p:sp>
      <p:sp>
        <p:nvSpPr>
          <p:cNvPr id="8" name="Text 4"/>
          <p:cNvSpPr/>
          <p:nvPr/>
        </p:nvSpPr>
        <p:spPr>
          <a:xfrm>
            <a:off x="1223963" y="2078682"/>
            <a:ext cx="7263110" cy="226814"/>
          </a:xfrm>
          <a:prstGeom prst="rect">
            <a:avLst/>
          </a:prstGeom>
          <a:noFill/>
          <a:ln/>
        </p:spPr>
        <p:txBody>
          <a:bodyPr wrap="none" lIns="0" tIns="0" rIns="0" bIns="0" rtlCol="0" anchor="t"/>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Secure access for businesses and referrers.</a:t>
            </a:r>
            <a:endParaRPr lang="en-US" sz="110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608064"/>
            <a:ext cx="8151763" cy="854943"/>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2348" y="2929161"/>
            <a:ext cx="212601" cy="212601"/>
          </a:xfrm>
          <a:prstGeom prst="rect">
            <a:avLst/>
          </a:prstGeom>
        </p:spPr>
      </p:pic>
      <p:sp>
        <p:nvSpPr>
          <p:cNvPr id="11" name="Text 5"/>
          <p:cNvSpPr/>
          <p:nvPr/>
        </p:nvSpPr>
        <p:spPr>
          <a:xfrm>
            <a:off x="1223963" y="2768873"/>
            <a:ext cx="7263110"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Opportunity Management</a:t>
            </a:r>
            <a:endParaRPr lang="en-US" sz="1350" dirty="0"/>
          </a:p>
        </p:txBody>
      </p:sp>
      <p:sp>
        <p:nvSpPr>
          <p:cNvPr id="12" name="Text 6"/>
          <p:cNvSpPr/>
          <p:nvPr/>
        </p:nvSpPr>
        <p:spPr>
          <a:xfrm>
            <a:off x="1223963" y="3075384"/>
            <a:ext cx="7263110" cy="226814"/>
          </a:xfrm>
          <a:prstGeom prst="rect">
            <a:avLst/>
          </a:prstGeom>
          <a:noFill/>
          <a:ln/>
        </p:spPr>
        <p:txBody>
          <a:bodyPr wrap="none" lIns="0" tIns="0" rIns="0" bIns="0" rtlCol="0" anchor="t"/>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Publish referral opportunities in one place.</a:t>
            </a:r>
            <a:endParaRPr lang="en-US" sz="1100" dirty="0"/>
          </a:p>
        </p:txBody>
      </p:sp>
      <p:pic>
        <p:nvPicPr>
          <p:cNvPr id="13"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3604766"/>
            <a:ext cx="8151763" cy="854943"/>
          </a:xfrm>
          <a:prstGeom prst="rect">
            <a:avLst/>
          </a:prstGeom>
        </p:spPr>
      </p:pic>
      <p:pic>
        <p:nvPicPr>
          <p:cNvPr id="14" name="Image 5"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2348" y="3925863"/>
            <a:ext cx="212601" cy="212601"/>
          </a:xfrm>
          <a:prstGeom prst="rect">
            <a:avLst/>
          </a:prstGeom>
        </p:spPr>
      </p:pic>
      <p:sp>
        <p:nvSpPr>
          <p:cNvPr id="15" name="Text 7"/>
          <p:cNvSpPr/>
          <p:nvPr/>
        </p:nvSpPr>
        <p:spPr>
          <a:xfrm>
            <a:off x="1223963" y="3765575"/>
            <a:ext cx="7263110"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Referral Tracking</a:t>
            </a:r>
            <a:endParaRPr lang="en-US" sz="1350" dirty="0"/>
          </a:p>
        </p:txBody>
      </p:sp>
      <p:sp>
        <p:nvSpPr>
          <p:cNvPr id="16" name="Text 8"/>
          <p:cNvSpPr/>
          <p:nvPr/>
        </p:nvSpPr>
        <p:spPr>
          <a:xfrm>
            <a:off x="1223963" y="4072086"/>
            <a:ext cx="7263110" cy="226814"/>
          </a:xfrm>
          <a:prstGeom prst="rect">
            <a:avLst/>
          </a:prstGeom>
          <a:noFill/>
          <a:ln/>
        </p:spPr>
        <p:txBody>
          <a:bodyPr wrap="none" lIns="0" tIns="0" rIns="0" bIns="0" rtlCol="0" anchor="t"/>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Track referral status from start to finish.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1106760"/>
            <a:ext cx="1102444" cy="215354"/>
          </a:xfrm>
          <a:prstGeom prst="roundRect">
            <a:avLst>
              <a:gd name="adj" fmla="val 7900"/>
            </a:avLst>
          </a:prstGeom>
          <a:noFill/>
          <a:ln w="4763">
            <a:solidFill>
              <a:srgbClr val="1B5F39"/>
            </a:solidFill>
            <a:prstDash val="solid"/>
          </a:ln>
        </p:spPr>
      </p:sp>
      <p:sp>
        <p:nvSpPr>
          <p:cNvPr id="3" name="Text 1"/>
          <p:cNvSpPr/>
          <p:nvPr/>
        </p:nvSpPr>
        <p:spPr>
          <a:xfrm>
            <a:off x="581174" y="1149251"/>
            <a:ext cx="1389534" cy="130373"/>
          </a:xfrm>
          <a:prstGeom prst="rect">
            <a:avLst/>
          </a:prstGeom>
          <a:noFill/>
          <a:ln/>
        </p:spPr>
        <p:txBody>
          <a:bodyPr wrap="none" lIns="0" tIns="0" rIns="0" bIns="0" rtlCol="0" anchor="t"/>
          <a:lstStyle/>
          <a:p>
            <a:pPr marL="0" indent="0" algn="l">
              <a:lnSpc>
                <a:spcPct val="96000"/>
              </a:lnSpc>
              <a:buNone/>
            </a:pPr>
            <a:r>
              <a:rPr lang="en-US" sz="850" dirty="0">
                <a:solidFill>
                  <a:srgbClr val="1B5F39"/>
                </a:solidFill>
                <a:latin typeface="Lora" pitchFamily="34" charset="0"/>
                <a:ea typeface="Lora" pitchFamily="34" charset="-122"/>
                <a:cs typeface="Lora" pitchFamily="34" charset="-120"/>
              </a:rPr>
              <a:t>BUSINESS VALUE</a:t>
            </a:r>
            <a:endParaRPr lang="en-US" sz="850" dirty="0"/>
          </a:p>
        </p:txBody>
      </p:sp>
      <p:sp>
        <p:nvSpPr>
          <p:cNvPr id="4" name="Text 2"/>
          <p:cNvSpPr/>
          <p:nvPr/>
        </p:nvSpPr>
        <p:spPr>
          <a:xfrm>
            <a:off x="496119" y="1378818"/>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Business Benefits</a:t>
            </a:r>
            <a:endParaRPr lang="en-US" sz="2750" dirty="0"/>
          </a:p>
        </p:txBody>
      </p:sp>
      <p:sp>
        <p:nvSpPr>
          <p:cNvPr id="5" name="Shape 3"/>
          <p:cNvSpPr/>
          <p:nvPr/>
        </p:nvSpPr>
        <p:spPr>
          <a:xfrm>
            <a:off x="496119" y="2034406"/>
            <a:ext cx="4004965" cy="1043657"/>
          </a:xfrm>
          <a:prstGeom prst="roundRect">
            <a:avLst>
              <a:gd name="adj" fmla="val 2038"/>
            </a:avLst>
          </a:prstGeom>
          <a:solidFill>
            <a:srgbClr val="1B5F39"/>
          </a:solidFill>
          <a:ln/>
        </p:spPr>
      </p:sp>
      <p:sp>
        <p:nvSpPr>
          <p:cNvPr id="6" name="Text 4"/>
          <p:cNvSpPr/>
          <p:nvPr/>
        </p:nvSpPr>
        <p:spPr>
          <a:xfrm>
            <a:off x="637877" y="2176165"/>
            <a:ext cx="3721447"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Alice" pitchFamily="34" charset="0"/>
                <a:ea typeface="Alice" pitchFamily="34" charset="-122"/>
                <a:cs typeface="Alice" pitchFamily="34" charset="-120"/>
              </a:rPr>
              <a:t>Faster Customer Acquisition</a:t>
            </a:r>
            <a:endParaRPr lang="en-US" sz="1350" dirty="0"/>
          </a:p>
        </p:txBody>
      </p:sp>
      <p:sp>
        <p:nvSpPr>
          <p:cNvPr id="7" name="Text 5"/>
          <p:cNvSpPr/>
          <p:nvPr/>
        </p:nvSpPr>
        <p:spPr>
          <a:xfrm>
            <a:off x="637877" y="2482676"/>
            <a:ext cx="372144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FFFFFF"/>
                </a:solidFill>
                <a:latin typeface="Lora" pitchFamily="34" charset="0"/>
                <a:ea typeface="Lora" pitchFamily="34" charset="-122"/>
                <a:cs typeface="Lora" pitchFamily="34" charset="-120"/>
              </a:rPr>
              <a:t>Trusted networks help you reach and convert new customers more efficiently.</a:t>
            </a:r>
            <a:endParaRPr lang="en-US" sz="1100" dirty="0"/>
          </a:p>
        </p:txBody>
      </p:sp>
      <p:sp>
        <p:nvSpPr>
          <p:cNvPr id="8" name="Shape 6"/>
          <p:cNvSpPr/>
          <p:nvPr/>
        </p:nvSpPr>
        <p:spPr>
          <a:xfrm>
            <a:off x="4642842" y="2034406"/>
            <a:ext cx="4005039" cy="1043657"/>
          </a:xfrm>
          <a:prstGeom prst="roundRect">
            <a:avLst>
              <a:gd name="adj" fmla="val 2038"/>
            </a:avLst>
          </a:prstGeom>
          <a:solidFill>
            <a:srgbClr val="1B5F39"/>
          </a:solidFill>
          <a:ln/>
        </p:spPr>
      </p:sp>
      <p:sp>
        <p:nvSpPr>
          <p:cNvPr id="9" name="Text 7"/>
          <p:cNvSpPr/>
          <p:nvPr/>
        </p:nvSpPr>
        <p:spPr>
          <a:xfrm>
            <a:off x="4784601" y="2176165"/>
            <a:ext cx="3721522"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Alice" pitchFamily="34" charset="0"/>
                <a:ea typeface="Alice" pitchFamily="34" charset="-122"/>
                <a:cs typeface="Alice" pitchFamily="34" charset="-120"/>
              </a:rPr>
              <a:t>Centralised Tracking</a:t>
            </a:r>
            <a:endParaRPr lang="en-US" sz="1350" dirty="0"/>
          </a:p>
        </p:txBody>
      </p:sp>
      <p:sp>
        <p:nvSpPr>
          <p:cNvPr id="10" name="Text 8"/>
          <p:cNvSpPr/>
          <p:nvPr/>
        </p:nvSpPr>
        <p:spPr>
          <a:xfrm>
            <a:off x="4784601" y="2482676"/>
            <a:ext cx="3721522"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FFFFFF"/>
                </a:solidFill>
                <a:latin typeface="Lora" pitchFamily="34" charset="0"/>
                <a:ea typeface="Lora" pitchFamily="34" charset="-122"/>
                <a:cs typeface="Lora" pitchFamily="34" charset="-120"/>
              </a:rPr>
              <a:t>Manage referral activity, status, and reporting in one place.</a:t>
            </a:r>
            <a:endParaRPr lang="en-US" sz="1100" dirty="0"/>
          </a:p>
        </p:txBody>
      </p:sp>
      <p:sp>
        <p:nvSpPr>
          <p:cNvPr id="11" name="Shape 9"/>
          <p:cNvSpPr/>
          <p:nvPr/>
        </p:nvSpPr>
        <p:spPr>
          <a:xfrm>
            <a:off x="496119" y="3219822"/>
            <a:ext cx="8151763" cy="816843"/>
          </a:xfrm>
          <a:prstGeom prst="roundRect">
            <a:avLst>
              <a:gd name="adj" fmla="val 2603"/>
            </a:avLst>
          </a:prstGeom>
          <a:solidFill>
            <a:srgbClr val="1B5F39"/>
          </a:solidFill>
          <a:ln/>
        </p:spPr>
      </p:sp>
      <p:sp>
        <p:nvSpPr>
          <p:cNvPr id="12" name="Text 10"/>
          <p:cNvSpPr/>
          <p:nvPr/>
        </p:nvSpPr>
        <p:spPr>
          <a:xfrm>
            <a:off x="637877" y="3361581"/>
            <a:ext cx="7868245"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Alice" pitchFamily="34" charset="0"/>
                <a:ea typeface="Alice" pitchFamily="34" charset="-122"/>
                <a:cs typeface="Alice" pitchFamily="34" charset="-120"/>
              </a:rPr>
              <a:t>Transparent Rewards</a:t>
            </a:r>
            <a:endParaRPr lang="en-US" sz="1350" dirty="0"/>
          </a:p>
        </p:txBody>
      </p:sp>
      <p:sp>
        <p:nvSpPr>
          <p:cNvPr id="13" name="Text 11"/>
          <p:cNvSpPr/>
          <p:nvPr/>
        </p:nvSpPr>
        <p:spPr>
          <a:xfrm>
            <a:off x="637877" y="3668092"/>
            <a:ext cx="7868245" cy="226814"/>
          </a:xfrm>
          <a:prstGeom prst="rect">
            <a:avLst/>
          </a:prstGeom>
          <a:noFill/>
          <a:ln/>
        </p:spPr>
        <p:txBody>
          <a:bodyPr wrap="none" lIns="0" tIns="0" rIns="0" bIns="0" rtlCol="0" anchor="t"/>
          <a:lstStyle/>
          <a:p>
            <a:pPr marL="0" indent="0" algn="l">
              <a:lnSpc>
                <a:spcPct val="133000"/>
              </a:lnSpc>
              <a:buNone/>
            </a:pPr>
            <a:r>
              <a:rPr lang="en-US" sz="1100" dirty="0">
                <a:solidFill>
                  <a:srgbClr val="FFFFFF"/>
                </a:solidFill>
                <a:latin typeface="Lora" pitchFamily="34" charset="0"/>
                <a:ea typeface="Lora" pitchFamily="34" charset="-122"/>
                <a:cs typeface="Lora" pitchFamily="34" charset="-120"/>
              </a:rPr>
              <a:t>Automated reward distribution builds trust and keeps payouts auditable.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963290"/>
            <a:ext cx="1480840" cy="215354"/>
          </a:xfrm>
          <a:prstGeom prst="roundRect">
            <a:avLst>
              <a:gd name="adj" fmla="val 7900"/>
            </a:avLst>
          </a:prstGeom>
          <a:noFill/>
          <a:ln w="4763">
            <a:solidFill>
              <a:srgbClr val="1B5F39"/>
            </a:solidFill>
            <a:prstDash val="solid"/>
          </a:ln>
        </p:spPr>
      </p:sp>
      <p:sp>
        <p:nvSpPr>
          <p:cNvPr id="3" name="Text 1"/>
          <p:cNvSpPr/>
          <p:nvPr/>
        </p:nvSpPr>
        <p:spPr>
          <a:xfrm>
            <a:off x="581174" y="1005780"/>
            <a:ext cx="1767929" cy="130373"/>
          </a:xfrm>
          <a:prstGeom prst="rect">
            <a:avLst/>
          </a:prstGeom>
          <a:noFill/>
          <a:ln/>
        </p:spPr>
        <p:txBody>
          <a:bodyPr wrap="none" lIns="0" tIns="0" rIns="0" bIns="0" rtlCol="0" anchor="t"/>
          <a:lstStyle/>
          <a:p>
            <a:pPr marL="0" indent="0" algn="l">
              <a:lnSpc>
                <a:spcPct val="96000"/>
              </a:lnSpc>
              <a:buNone/>
            </a:pPr>
            <a:r>
              <a:rPr lang="en-US" sz="850" dirty="0">
                <a:solidFill>
                  <a:srgbClr val="1B5F39"/>
                </a:solidFill>
                <a:latin typeface="Lora" pitchFamily="34" charset="0"/>
                <a:ea typeface="Lora" pitchFamily="34" charset="-122"/>
                <a:cs typeface="Lora" pitchFamily="34" charset="-120"/>
              </a:rPr>
              <a:t>ENTERPRISE ADOPTION</a:t>
            </a:r>
            <a:endParaRPr lang="en-US" sz="850" dirty="0"/>
          </a:p>
        </p:txBody>
      </p:sp>
      <p:sp>
        <p:nvSpPr>
          <p:cNvPr id="4" name="Text 2"/>
          <p:cNvSpPr/>
          <p:nvPr/>
        </p:nvSpPr>
        <p:spPr>
          <a:xfrm>
            <a:off x="496119" y="1235348"/>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Trusted Organisations</a:t>
            </a:r>
            <a:endParaRPr lang="en-US" sz="2750" dirty="0"/>
          </a:p>
        </p:txBody>
      </p:sp>
      <p:sp>
        <p:nvSpPr>
          <p:cNvPr id="5" name="Text 3"/>
          <p:cNvSpPr/>
          <p:nvPr/>
        </p:nvSpPr>
        <p:spPr>
          <a:xfrm>
            <a:off x="496119" y="1890936"/>
            <a:ext cx="8151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These organizations trust the platform because it helps them manage referrals with greater visibility, consistency, and control. By centralising activity and making rewards transparent, teams can scale adoption without losing track of performance or payouts.</a:t>
            </a:r>
            <a:endParaRPr lang="en-US" sz="110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730847"/>
            <a:ext cx="2622724" cy="764530"/>
          </a:xfrm>
          <a:prstGeom prst="rect">
            <a:avLst/>
          </a:prstGeom>
        </p:spPr>
      </p:pic>
      <p:sp>
        <p:nvSpPr>
          <p:cNvPr id="7" name="Text 4"/>
          <p:cNvSpPr/>
          <p:nvPr/>
        </p:nvSpPr>
        <p:spPr>
          <a:xfrm>
            <a:off x="733127" y="2891656"/>
            <a:ext cx="2224906"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Canara Records Private Limited</a:t>
            </a:r>
            <a:endParaRPr lang="en-US" sz="135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0601" y="2730847"/>
            <a:ext cx="2622724" cy="764530"/>
          </a:xfrm>
          <a:prstGeom prst="rect">
            <a:avLst/>
          </a:prstGeom>
        </p:spPr>
      </p:pic>
      <p:sp>
        <p:nvSpPr>
          <p:cNvPr id="9" name="Text 5"/>
          <p:cNvSpPr/>
          <p:nvPr/>
        </p:nvSpPr>
        <p:spPr>
          <a:xfrm>
            <a:off x="3497610" y="2891656"/>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Kalpac Electronics</a:t>
            </a:r>
            <a:endParaRPr lang="en-US" sz="13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25083" y="2730847"/>
            <a:ext cx="2622724" cy="764530"/>
          </a:xfrm>
          <a:prstGeom prst="rect">
            <a:avLst/>
          </a:prstGeom>
        </p:spPr>
      </p:pic>
      <p:sp>
        <p:nvSpPr>
          <p:cNvPr id="11" name="Text 6"/>
          <p:cNvSpPr/>
          <p:nvPr/>
        </p:nvSpPr>
        <p:spPr>
          <a:xfrm>
            <a:off x="6262092" y="2891656"/>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SVE Lights</a:t>
            </a:r>
            <a:endParaRPr lang="en-US" sz="1350" dirty="0"/>
          </a:p>
        </p:txBody>
      </p:sp>
      <p:pic>
        <p:nvPicPr>
          <p:cNvPr id="12"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637136"/>
            <a:ext cx="2622724" cy="543074"/>
          </a:xfrm>
          <a:prstGeom prst="rect">
            <a:avLst/>
          </a:prstGeom>
        </p:spPr>
      </p:pic>
      <p:sp>
        <p:nvSpPr>
          <p:cNvPr id="13" name="Text 7"/>
          <p:cNvSpPr/>
          <p:nvPr/>
        </p:nvSpPr>
        <p:spPr>
          <a:xfrm>
            <a:off x="733127" y="3797945"/>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Greenfield Technologies</a:t>
            </a:r>
            <a:endParaRPr lang="en-US" sz="1350" dirty="0"/>
          </a:p>
        </p:txBody>
      </p:sp>
      <p:pic>
        <p:nvPicPr>
          <p:cNvPr id="14"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0601" y="3637136"/>
            <a:ext cx="2622724" cy="543074"/>
          </a:xfrm>
          <a:prstGeom prst="rect">
            <a:avLst/>
          </a:prstGeom>
        </p:spPr>
      </p:pic>
      <p:sp>
        <p:nvSpPr>
          <p:cNvPr id="15" name="Text 8"/>
          <p:cNvSpPr/>
          <p:nvPr/>
        </p:nvSpPr>
        <p:spPr>
          <a:xfrm>
            <a:off x="3497610" y="3797945"/>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Metro Industrial Supplies</a:t>
            </a:r>
            <a:endParaRPr lang="en-US" sz="1350" dirty="0"/>
          </a:p>
        </p:txBody>
      </p:sp>
      <p:pic>
        <p:nvPicPr>
          <p:cNvPr id="16"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25083" y="3637136"/>
            <a:ext cx="2622724" cy="543074"/>
          </a:xfrm>
          <a:prstGeom prst="rect">
            <a:avLst/>
          </a:prstGeom>
        </p:spPr>
      </p:pic>
      <p:sp>
        <p:nvSpPr>
          <p:cNvPr id="17" name="Text 9"/>
          <p:cNvSpPr/>
          <p:nvPr/>
        </p:nvSpPr>
        <p:spPr>
          <a:xfrm>
            <a:off x="6262092" y="3797945"/>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Nova Manufacturing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1282675"/>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Thank You</a:t>
            </a:r>
            <a:endParaRPr lang="en-US" sz="2750" dirty="0"/>
          </a:p>
        </p:txBody>
      </p:sp>
      <p:sp>
        <p:nvSpPr>
          <p:cNvPr id="3" name="Shape 1"/>
          <p:cNvSpPr/>
          <p:nvPr/>
        </p:nvSpPr>
        <p:spPr>
          <a:xfrm>
            <a:off x="496119" y="2009180"/>
            <a:ext cx="4004965" cy="854943"/>
          </a:xfrm>
          <a:prstGeom prst="roundRect">
            <a:avLst>
              <a:gd name="adj" fmla="val 2487"/>
            </a:avLst>
          </a:prstGeom>
          <a:solidFill>
            <a:srgbClr val="FCFBF8"/>
          </a:solidFill>
          <a:ln w="19050">
            <a:solidFill>
              <a:srgbClr val="D6D3CC"/>
            </a:solidFill>
            <a:prstDash val="solid"/>
          </a:ln>
        </p:spPr>
      </p:sp>
      <p:sp>
        <p:nvSpPr>
          <p:cNvPr id="4" name="Text 2"/>
          <p:cNvSpPr/>
          <p:nvPr/>
        </p:nvSpPr>
        <p:spPr>
          <a:xfrm>
            <a:off x="656927" y="2169988"/>
            <a:ext cx="3683347"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Abhimo Technologies Pvt. Ltd.</a:t>
            </a:r>
            <a:endParaRPr lang="en-US" sz="1350" dirty="0"/>
          </a:p>
        </p:txBody>
      </p:sp>
      <p:sp>
        <p:nvSpPr>
          <p:cNvPr id="5" name="Text 3"/>
          <p:cNvSpPr/>
          <p:nvPr/>
        </p:nvSpPr>
        <p:spPr>
          <a:xfrm>
            <a:off x="656927" y="2476500"/>
            <a:ext cx="3683347" cy="226814"/>
          </a:xfrm>
          <a:prstGeom prst="rect">
            <a:avLst/>
          </a:prstGeom>
          <a:noFill/>
          <a:ln/>
        </p:spPr>
        <p:txBody>
          <a:bodyPr wrap="none" lIns="0" tIns="0" rIns="0" bIns="0" rtlCol="0" anchor="t"/>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Mangaluru, Karnataka, India</a:t>
            </a:r>
            <a:endParaRPr lang="en-US" sz="1100" dirty="0"/>
          </a:p>
        </p:txBody>
      </p:sp>
      <p:sp>
        <p:nvSpPr>
          <p:cNvPr id="6" name="Shape 4"/>
          <p:cNvSpPr/>
          <p:nvPr/>
        </p:nvSpPr>
        <p:spPr>
          <a:xfrm>
            <a:off x="4642842" y="2009180"/>
            <a:ext cx="4005039" cy="854943"/>
          </a:xfrm>
          <a:prstGeom prst="roundRect">
            <a:avLst>
              <a:gd name="adj" fmla="val 2487"/>
            </a:avLst>
          </a:prstGeom>
          <a:solidFill>
            <a:srgbClr val="FCFBF8"/>
          </a:solidFill>
          <a:ln w="19050">
            <a:solidFill>
              <a:srgbClr val="D6D3CC"/>
            </a:solidFill>
            <a:prstDash val="solid"/>
          </a:ln>
        </p:spPr>
      </p:sp>
      <p:sp>
        <p:nvSpPr>
          <p:cNvPr id="7" name="Text 5"/>
          <p:cNvSpPr/>
          <p:nvPr/>
        </p:nvSpPr>
        <p:spPr>
          <a:xfrm>
            <a:off x="4803651" y="2169988"/>
            <a:ext cx="3683422"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Website</a:t>
            </a:r>
            <a:endParaRPr lang="en-US" sz="1350" dirty="0"/>
          </a:p>
        </p:txBody>
      </p:sp>
      <p:sp>
        <p:nvSpPr>
          <p:cNvPr id="8" name="Text 6"/>
          <p:cNvSpPr/>
          <p:nvPr/>
        </p:nvSpPr>
        <p:spPr>
          <a:xfrm>
            <a:off x="4803651" y="2476500"/>
            <a:ext cx="3683422" cy="226814"/>
          </a:xfrm>
          <a:prstGeom prst="rect">
            <a:avLst/>
          </a:prstGeom>
          <a:noFill/>
          <a:ln/>
        </p:spPr>
        <p:txBody>
          <a:bodyPr wrap="none" lIns="0" tIns="0" rIns="0" bIns="0" rtlCol="0" anchor="t"/>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www.abhimotechnologies.com</a:t>
            </a:r>
            <a:endParaRPr lang="en-US" sz="1100" dirty="0"/>
          </a:p>
        </p:txBody>
      </p:sp>
      <p:sp>
        <p:nvSpPr>
          <p:cNvPr id="9" name="Shape 7"/>
          <p:cNvSpPr/>
          <p:nvPr/>
        </p:nvSpPr>
        <p:spPr>
          <a:xfrm>
            <a:off x="496119" y="3005882"/>
            <a:ext cx="4004965" cy="854943"/>
          </a:xfrm>
          <a:prstGeom prst="roundRect">
            <a:avLst>
              <a:gd name="adj" fmla="val 2487"/>
            </a:avLst>
          </a:prstGeom>
          <a:solidFill>
            <a:srgbClr val="FCFBF8"/>
          </a:solidFill>
          <a:ln w="19050">
            <a:solidFill>
              <a:srgbClr val="D6D3CC"/>
            </a:solidFill>
            <a:prstDash val="solid"/>
          </a:ln>
        </p:spPr>
      </p:sp>
      <p:sp>
        <p:nvSpPr>
          <p:cNvPr id="10" name="Text 8"/>
          <p:cNvSpPr/>
          <p:nvPr/>
        </p:nvSpPr>
        <p:spPr>
          <a:xfrm>
            <a:off x="656927" y="3166690"/>
            <a:ext cx="3683347"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Email</a:t>
            </a:r>
            <a:endParaRPr lang="en-US" sz="1350" dirty="0"/>
          </a:p>
        </p:txBody>
      </p:sp>
      <p:sp>
        <p:nvSpPr>
          <p:cNvPr id="11" name="Text 9"/>
          <p:cNvSpPr/>
          <p:nvPr/>
        </p:nvSpPr>
        <p:spPr>
          <a:xfrm>
            <a:off x="656927" y="3473202"/>
            <a:ext cx="3683347" cy="226814"/>
          </a:xfrm>
          <a:prstGeom prst="rect">
            <a:avLst/>
          </a:prstGeom>
          <a:noFill/>
          <a:ln/>
        </p:spPr>
        <p:txBody>
          <a:bodyPr wrap="none" lIns="0" tIns="0" rIns="0" bIns="0" rtlCol="0" anchor="t"/>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info@abhimotechnologies.com</a:t>
            </a:r>
            <a:endParaRPr lang="en-US" sz="1100" dirty="0"/>
          </a:p>
        </p:txBody>
      </p:sp>
      <p:sp>
        <p:nvSpPr>
          <p:cNvPr id="12" name="Shape 10"/>
          <p:cNvSpPr/>
          <p:nvPr/>
        </p:nvSpPr>
        <p:spPr>
          <a:xfrm>
            <a:off x="4642842" y="3005882"/>
            <a:ext cx="4005039" cy="854943"/>
          </a:xfrm>
          <a:prstGeom prst="roundRect">
            <a:avLst>
              <a:gd name="adj" fmla="val 2487"/>
            </a:avLst>
          </a:prstGeom>
          <a:solidFill>
            <a:srgbClr val="FCFBF8"/>
          </a:solidFill>
          <a:ln w="19050">
            <a:solidFill>
              <a:srgbClr val="D6D3CC"/>
            </a:solidFill>
            <a:prstDash val="solid"/>
          </a:ln>
        </p:spPr>
      </p:sp>
      <p:sp>
        <p:nvSpPr>
          <p:cNvPr id="13" name="Text 11"/>
          <p:cNvSpPr/>
          <p:nvPr/>
        </p:nvSpPr>
        <p:spPr>
          <a:xfrm>
            <a:off x="4803651" y="3166690"/>
            <a:ext cx="3683422" cy="221456"/>
          </a:xfrm>
          <a:prstGeom prst="rect">
            <a:avLst/>
          </a:prstGeom>
          <a:noFill/>
          <a:ln/>
        </p:spPr>
        <p:txBody>
          <a:bodyPr wrap="none" lIns="0" tIns="0" rIns="0" bIns="0" rtlCol="0" anchor="t"/>
          <a:lstStyle/>
          <a:p>
            <a:pPr marL="0" indent="0" algn="l">
              <a:lnSpc>
                <a:spcPct val="104000"/>
              </a:lnSpc>
              <a:buNone/>
            </a:pPr>
            <a:r>
              <a:rPr lang="en-US" sz="1350" dirty="0">
                <a:solidFill>
                  <a:srgbClr val="2C2821"/>
                </a:solidFill>
                <a:latin typeface="Alice" pitchFamily="34" charset="0"/>
                <a:ea typeface="Alice" pitchFamily="34" charset="-122"/>
                <a:cs typeface="Alice" pitchFamily="34" charset="-120"/>
              </a:rPr>
              <a:t>Phone</a:t>
            </a:r>
            <a:endParaRPr lang="en-US" sz="1350" dirty="0"/>
          </a:p>
        </p:txBody>
      </p:sp>
      <p:sp>
        <p:nvSpPr>
          <p:cNvPr id="14" name="Text 12"/>
          <p:cNvSpPr/>
          <p:nvPr/>
        </p:nvSpPr>
        <p:spPr>
          <a:xfrm>
            <a:off x="4803651" y="3473202"/>
            <a:ext cx="3683422" cy="226814"/>
          </a:xfrm>
          <a:prstGeom prst="rect">
            <a:avLst/>
          </a:prstGeom>
          <a:noFill/>
          <a:ln/>
        </p:spPr>
        <p:txBody>
          <a:bodyPr wrap="none" lIns="0" tIns="0" rIns="0" bIns="0" rtlCol="0" anchor="t"/>
          <a:lstStyle/>
          <a:p>
            <a:pPr marL="0" indent="0" algn="l">
              <a:lnSpc>
                <a:spcPct val="133000"/>
              </a:lnSpc>
              <a:buNone/>
            </a:pPr>
            <a:r>
              <a:rPr lang="en-US" sz="1100" dirty="0">
                <a:solidFill>
                  <a:srgbClr val="2C2821"/>
                </a:solidFill>
                <a:latin typeface="Lora" pitchFamily="34" charset="0"/>
                <a:ea typeface="Lora" pitchFamily="34" charset="-122"/>
                <a:cs typeface="Lora" pitchFamily="34" charset="-120"/>
              </a:rPr>
              <a:t>+91-XXXXX-XXXXX</a:t>
            </a:r>
            <a:endParaRPr lang="en-US" sz="11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89</TotalTime>
  <Words>506</Words>
  <Application>Microsoft Office PowerPoint</Application>
  <PresentationFormat>On-screen Show (16:9)</PresentationFormat>
  <Paragraphs>109</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Wingdings 3</vt:lpstr>
      <vt:lpstr>Alice</vt:lpstr>
      <vt:lpstr>Arial</vt:lpstr>
      <vt:lpstr>Calibri</vt:lpstr>
      <vt:lpstr>Lora Bold</vt:lpstr>
      <vt:lpstr>Trebuchet MS</vt:lpstr>
      <vt:lpstr>Lora</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Deeksha</cp:lastModifiedBy>
  <cp:revision>7</cp:revision>
  <dcterms:created xsi:type="dcterms:W3CDTF">2026-07-17T10:13:59Z</dcterms:created>
  <dcterms:modified xsi:type="dcterms:W3CDTF">2026-07-17T10:17:52Z</dcterms:modified>
</cp:coreProperties>
</file>